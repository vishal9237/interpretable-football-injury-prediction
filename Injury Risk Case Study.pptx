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topic: a case study on predicting injury risk in university football players with explainable machine learning, based on the 2025 Scientific Reports paper by Ma, Liu and Pei.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FIFA reports 3.7 injuries per 1,000 training hours and up to 27.1 per 1,000 match hours. The paper reframes injury assessment as supervised learning over a four-dimensional profile of 18 features, compares ten algorithms, and uses SHAP to explain the best one. The output must be explainable so that coaches can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data is cleaned and encoded, passed through ten candidate models, and the best one, the RBF-kernel SVM, is opened up with SHAP. This is a soft-computing problem because inputs are noisy, the label is a judgement call and the process is non-linear and multi-causal. The three cards map the paper's techniques to soft-computing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Chinese university players, exactly balanced, with 18 baseline features in four dimensions; the injury outcome is observed afterwards over six months, which prevents leakage. The raw Kaggle file was not available, so the reproduction samples every feature from Normal distributions using the paper's per-group means and standard deviations. Standardisation matters because SVM and KNN are distance and kernel 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reproduced dataset the RBF-kernel SVM is best by accuracy (0.800) and F1 (0.805). Logistic Regression and Naive Bayes are close, and Naive Bayes actually has the highest ROC-AUC (0.880). The ordering Decision Tree, then KNN, then boosted trees, then SVM and linear models matches the paper qualitatively.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then sleep, then balance matches the paper exactly, and psychological and lifestyle factors outrank strength and speed. High stress and low sleep both push predictions toward injury. But the reproduction, built from the paper's own summary statistics, reaches AUC 0.864 and accuracy 0.800 against the paper's 0.992 and 0.956.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prior studies on elite youth and professional players report AUC between 0.76 and 0.83; the reproduction lands at 0.86 and the paper claims 0.99. Strengths of the paper are the large university sample, ten models under identical preprocessing, and SHAP at global, directional and per-athlete level. Its weaknesses are the artificial 50:50 balance, no external validation, self-reported stress and a single baseline snapshot. Ethically, a risk label is not neutral: it can make athletes anxious or lead coaches to cut their playing time, so outputs should be framed as areas for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the SHAP ranking is robust, the SVM is the best model, and the headline 0.99 AUC should be treated as optimistic. The paper uses no fuzzy, neural or evolutionary techniques; each of the future extensions addresses a specific limitation.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6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026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6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026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5"/>
                </a:solidFill>
                <a:latin typeface="IBM Plex Sans" pitchFamily="34" charset="0"/>
                <a:ea typeface="IBM Plex Sans" pitchFamily="34" charset="-122"/>
                <a:cs typeface="IBM Plex Sans" pitchFamily="34" charset="-120"/>
              </a:rPr>
              <a:t>SOFT COMPUTING · SEMESTER CASE STUDY</a:t>
            </a:r>
            <a:endParaRPr lang="en-US" sz="1200" dirty="0"/>
          </a:p>
        </p:txBody>
      </p:sp>
      <p:sp>
        <p:nvSpPr>
          <p:cNvPr id="3" name="Text 1"/>
          <p:cNvSpPr/>
          <p:nvPr>
            <p:ph type="title"/>
          </p:nvPr>
        </p:nvSpPr>
        <p:spPr>
          <a:xfrm>
            <a:off x="812800" y="203962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6"/>
                </a:solidFill>
                <a:latin typeface="Source Serif 4" pitchFamily="18" charset="0"/>
                <a:ea typeface="Source Serif 4" pitchFamily="18" charset="-122"/>
                <a:cs typeface="Source Serif 4" pitchFamily="18" charset="-120"/>
              </a:rPr>
              <a:t>Football Player Injury Risk Prediction</a:t>
            </a:r>
            <a:endParaRPr lang="en-US" sz="4000" dirty="0"/>
          </a:p>
          <a:p>
            <a:pPr algn="l" indent="0" marL="0">
              <a:lnSpc>
                <a:spcPts val="4400"/>
              </a:lnSpc>
              <a:buNone/>
            </a:pPr>
            <a:r>
              <a:rPr lang="en-US" sz="4000" b="1" i="0" dirty="0">
                <a:solidFill>
                  <a:srgbClr val="F3EFE6"/>
                </a:solidFill>
                <a:latin typeface="Source Serif 4" pitchFamily="18" charset="0"/>
                <a:ea typeface="Source Serif 4" pitchFamily="18" charset="-122"/>
                <a:cs typeface="Source Serif 4" pitchFamily="18" charset="-120"/>
              </a:rPr>
              <a:t>Using Soft Computing Techniques</a:t>
            </a:r>
            <a:endParaRPr lang="en-US" sz="4000" dirty="0"/>
          </a:p>
        </p:txBody>
      </p:sp>
      <p:sp>
        <p:nvSpPr>
          <p:cNvPr id="4" name="Text 2"/>
          <p:cNvSpPr/>
          <p:nvPr/>
        </p:nvSpPr>
        <p:spPr>
          <a:xfrm>
            <a:off x="812800" y="336042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B9C9C6"/>
                </a:solidFill>
                <a:latin typeface="Source Serif 4" pitchFamily="18" charset="0"/>
                <a:ea typeface="Source Serif 4" pitchFamily="18" charset="-122"/>
                <a:cs typeface="Source Serif 4" pitchFamily="18" charset="-120"/>
              </a:rPr>
              <a:t>A case study of explainable machine learning in sports analytics</a:t>
            </a:r>
            <a:endParaRPr lang="en-US" sz="2000" dirty="0"/>
          </a:p>
        </p:txBody>
      </p:sp>
      <p:sp>
        <p:nvSpPr>
          <p:cNvPr id="5" name="Text 3"/>
          <p:cNvSpPr/>
          <p:nvPr/>
        </p:nvSpPr>
        <p:spPr>
          <a:xfrm>
            <a:off x="812800" y="391922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A5"/>
                </a:solidFill>
                <a:latin typeface="IBM Plex Sans" pitchFamily="34" charset="0"/>
                <a:ea typeface="IBM Plex Sans" pitchFamily="34" charset="-122"/>
                <a:cs typeface="IBM Plex Sans" pitchFamily="34" charset="-120"/>
              </a:rPr>
              <a:t>Based on Ma, Liu &amp; Pei (2025), Scientific Reports 15, 40252</a:t>
            </a:r>
            <a:endParaRPr lang="en-US" sz="1200" dirty="0"/>
          </a:p>
        </p:txBody>
      </p:sp>
      <p:sp>
        <p:nvSpPr>
          <p:cNvPr id="6" name="Shape 4"/>
          <p:cNvSpPr/>
          <p:nvPr/>
        </p:nvSpPr>
        <p:spPr>
          <a:xfrm>
            <a:off x="812800" y="5149215"/>
            <a:ext cx="10566400" cy="0"/>
          </a:xfrm>
          <a:prstGeom prst="line">
            <a:avLst/>
          </a:prstGeom>
          <a:noFill/>
          <a:ln w="6350">
            <a:solidFill>
              <a:srgbClr val="2E4A50"/>
            </a:solidFill>
            <a:prstDash val="solid"/>
          </a:ln>
        </p:spPr>
      </p:sp>
      <p:sp>
        <p:nvSpPr>
          <p:cNvPr id="7" name="Text 5"/>
          <p:cNvSpPr/>
          <p:nvPr/>
        </p:nvSpPr>
        <p:spPr>
          <a:xfrm>
            <a:off x="812800" y="5354320"/>
            <a:ext cx="229887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3EFE6"/>
                </a:solidFill>
                <a:latin typeface="IBM Plex Sans" pitchFamily="34" charset="0"/>
                <a:ea typeface="IBM Plex Sans" pitchFamily="34" charset="-122"/>
                <a:cs typeface="IBM Plex Sans" pitchFamily="34" charset="-120"/>
              </a:rPr>
              <a:t>Gudidevuni Vishal</a:t>
            </a:r>
            <a:endParaRPr lang="en-US" sz="2000" dirty="0"/>
          </a:p>
        </p:txBody>
      </p:sp>
      <p:sp>
        <p:nvSpPr>
          <p:cNvPr id="8" name="Text 6"/>
          <p:cNvSpPr/>
          <p:nvPr/>
        </p:nvSpPr>
        <p:spPr>
          <a:xfrm>
            <a:off x="812800" y="5760720"/>
            <a:ext cx="267830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8A45"/>
                </a:solidFill>
                <a:latin typeface="IBM Plex Sans" pitchFamily="34" charset="0"/>
                <a:ea typeface="IBM Plex Sans" pitchFamily="34" charset="-122"/>
                <a:cs typeface="IBM Plex Sans" pitchFamily="34" charset="-120"/>
              </a:rPr>
              <a:t>Roll No. 160124748107</a:t>
            </a:r>
            <a:endParaRPr lang="en-US" sz="1600" dirty="0"/>
          </a:p>
        </p:txBody>
      </p:sp>
      <p:sp>
        <p:nvSpPr>
          <p:cNvPr id="9" name="Text 7"/>
          <p:cNvSpPr/>
          <p:nvPr/>
        </p:nvSpPr>
        <p:spPr>
          <a:xfrm>
            <a:off x="8827516" y="5567680"/>
            <a:ext cx="255168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Soft Computing · CSE (AI &amp; ML)</a:t>
            </a:r>
            <a:endParaRPr lang="en-US" sz="1200" dirty="0"/>
          </a:p>
        </p:txBody>
      </p:sp>
      <p:sp>
        <p:nvSpPr>
          <p:cNvPr id="10" name="Text 8"/>
          <p:cNvSpPr/>
          <p:nvPr/>
        </p:nvSpPr>
        <p:spPr>
          <a:xfrm>
            <a:off x="7314311" y="5831840"/>
            <a:ext cx="406488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Chaitanya Bharathi Institute of Technology (CBIT)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A"/>
                </a:solidFill>
                <a:latin typeface="IBM Plex Sans" pitchFamily="34" charset="0"/>
                <a:ea typeface="IBM Plex Sans" pitchFamily="34" charset="-122"/>
                <a:cs typeface="IBM Plex Sans" pitchFamily="34" charset="-120"/>
              </a:rPr>
              <a:t>CONTEXT</a:t>
            </a:r>
            <a:endParaRPr lang="en-US" sz="1200" dirty="0"/>
          </a:p>
        </p:txBody>
      </p:sp>
      <p:sp>
        <p:nvSpPr>
          <p:cNvPr id="3" name="Text 1"/>
          <p:cNvSpPr/>
          <p:nvPr>
            <p:ph type="title"/>
          </p:nvPr>
        </p:nvSpPr>
        <p:spPr>
          <a:xfrm>
            <a:off x="812800" y="11023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62B"/>
                </a:solidFill>
                <a:latin typeface="Source Serif 4" pitchFamily="18" charset="0"/>
                <a:ea typeface="Source Serif 4" pitchFamily="18" charset="-122"/>
                <a:cs typeface="Source Serif 4" pitchFamily="18" charset="-120"/>
              </a:rPr>
              <a:t>Problem and source paper</a:t>
            </a:r>
            <a:endParaRPr lang="en-US" sz="3600" dirty="0"/>
          </a:p>
        </p:txBody>
      </p:sp>
      <p:sp>
        <p:nvSpPr>
          <p:cNvPr id="4" name="Shape 2"/>
          <p:cNvSpPr/>
          <p:nvPr/>
        </p:nvSpPr>
        <p:spPr>
          <a:xfrm>
            <a:off x="812800" y="1859280"/>
            <a:ext cx="5176520" cy="2021840"/>
          </a:xfrm>
          <a:prstGeom prst="roundRect">
            <a:avLst>
              <a:gd name="adj" fmla="val 5025"/>
            </a:avLst>
          </a:prstGeom>
          <a:solidFill>
            <a:srgbClr val="10262B"/>
          </a:solidFill>
          <a:ln/>
        </p:spPr>
      </p:sp>
      <p:sp>
        <p:nvSpPr>
          <p:cNvPr id="5" name="Text 3"/>
          <p:cNvSpPr/>
          <p:nvPr/>
        </p:nvSpPr>
        <p:spPr>
          <a:xfrm>
            <a:off x="1016000" y="2062480"/>
            <a:ext cx="49132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08A45"/>
                </a:solidFill>
                <a:latin typeface="Source Serif 4" pitchFamily="18" charset="0"/>
                <a:ea typeface="Source Serif 4" pitchFamily="18" charset="-122"/>
                <a:cs typeface="Source Serif 4" pitchFamily="18" charset="-120"/>
              </a:rPr>
              <a:t>The problem</a:t>
            </a:r>
            <a:endParaRPr lang="en-US" sz="2000" dirty="0"/>
          </a:p>
        </p:txBody>
      </p:sp>
      <p:sp>
        <p:nvSpPr>
          <p:cNvPr id="6" name="Text 4"/>
          <p:cNvSpPr/>
          <p:nvPr/>
        </p:nvSpPr>
        <p:spPr>
          <a:xfrm>
            <a:off x="1016000" y="2494280"/>
            <a:ext cx="4913224"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EFE6"/>
                </a:solidFill>
                <a:latin typeface="IBM Plex Sans" pitchFamily="34" charset="0"/>
                <a:ea typeface="IBM Plex Sans" pitchFamily="34" charset="-122"/>
                <a:cs typeface="IBM Plex Sans" pitchFamily="34" charset="-120"/>
              </a:rPr>
              <a:t>Predict, from 18 imprecise baseline features, whether a university football player will have a time-loss injury (7 or more days) within six months, and explain what drove the prediction.</a:t>
            </a:r>
            <a:endParaRPr lang="en-US" sz="1600" dirty="0"/>
          </a:p>
        </p:txBody>
      </p:sp>
      <p:sp>
        <p:nvSpPr>
          <p:cNvPr id="7" name="Shape 5"/>
          <p:cNvSpPr/>
          <p:nvPr/>
        </p:nvSpPr>
        <p:spPr>
          <a:xfrm>
            <a:off x="6195695" y="1862455"/>
            <a:ext cx="5180330" cy="2015490"/>
          </a:xfrm>
          <a:prstGeom prst="roundRect">
            <a:avLst>
              <a:gd name="adj" fmla="val 4883"/>
            </a:avLst>
          </a:prstGeom>
          <a:solidFill>
            <a:srgbClr val="FFFDF8"/>
          </a:solidFill>
          <a:ln w="6350">
            <a:solidFill>
              <a:srgbClr val="DDD7C8"/>
            </a:solidFill>
            <a:prstDash val="solid"/>
          </a:ln>
        </p:spPr>
      </p:sp>
      <p:sp>
        <p:nvSpPr>
          <p:cNvPr id="8" name="Text 6"/>
          <p:cNvSpPr/>
          <p:nvPr/>
        </p:nvSpPr>
        <p:spPr>
          <a:xfrm>
            <a:off x="6400800" y="2067560"/>
            <a:ext cx="49132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Ma, Liu and Pei (2025) · Scientific Reports 15, 40252</a:t>
            </a:r>
            <a:endParaRPr lang="en-US" sz="1200" dirty="0"/>
          </a:p>
        </p:txBody>
      </p:sp>
      <p:sp>
        <p:nvSpPr>
          <p:cNvPr id="9" name="Text 7"/>
          <p:cNvSpPr/>
          <p:nvPr/>
        </p:nvSpPr>
        <p:spPr>
          <a:xfrm>
            <a:off x="6400800" y="2382520"/>
            <a:ext cx="4913224" cy="787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262B"/>
                </a:solidFill>
                <a:latin typeface="Source Serif 4" pitchFamily="18" charset="0"/>
                <a:ea typeface="Source Serif 4" pitchFamily="18" charset="-122"/>
                <a:cs typeface="Source Serif 4" pitchFamily="18" charset="-120"/>
              </a:rPr>
              <a:t>SHAP-Based Interpretable Machine Learning for Injury Risk Prediction in University Football Players</a:t>
            </a:r>
            <a:endParaRPr lang="en-US" sz="1600" dirty="0"/>
          </a:p>
        </p:txBody>
      </p:sp>
      <p:sp>
        <p:nvSpPr>
          <p:cNvPr id="10" name="Text 8"/>
          <p:cNvSpPr/>
          <p:nvPr/>
        </p:nvSpPr>
        <p:spPr>
          <a:xfrm>
            <a:off x="6400800" y="3246120"/>
            <a:ext cx="49132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Manual assessment is subjective and single-factor; black-box models give no reason to act on.</a:t>
            </a:r>
            <a:endParaRPr lang="en-US" sz="1200" dirty="0"/>
          </a:p>
        </p:txBody>
      </p:sp>
      <p:sp>
        <p:nvSpPr>
          <p:cNvPr id="11" name="Shape 9"/>
          <p:cNvSpPr/>
          <p:nvPr/>
        </p:nvSpPr>
        <p:spPr>
          <a:xfrm>
            <a:off x="812800" y="4135120"/>
            <a:ext cx="2489200" cy="1127760"/>
          </a:xfrm>
          <a:prstGeom prst="roundRect">
            <a:avLst>
              <a:gd name="adj" fmla="val 9009"/>
            </a:avLst>
          </a:prstGeom>
          <a:solidFill>
            <a:srgbClr val="E9E3D2"/>
          </a:solidFill>
          <a:ln/>
        </p:spPr>
      </p:sp>
      <p:sp>
        <p:nvSpPr>
          <p:cNvPr id="12" name="Text 10"/>
          <p:cNvSpPr/>
          <p:nvPr/>
        </p:nvSpPr>
        <p:spPr>
          <a:xfrm>
            <a:off x="1016000" y="4338320"/>
            <a:ext cx="21452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501A"/>
                </a:solidFill>
                <a:latin typeface="Source Serif 4" pitchFamily="18" charset="0"/>
                <a:ea typeface="Source Serif 4" pitchFamily="18" charset="-122"/>
                <a:cs typeface="Source Serif 4" pitchFamily="18" charset="-120"/>
              </a:rPr>
              <a:t>800</a:t>
            </a:r>
            <a:endParaRPr lang="en-US" sz="3600" dirty="0"/>
          </a:p>
        </p:txBody>
      </p:sp>
      <p:sp>
        <p:nvSpPr>
          <p:cNvPr id="13" name="Text 11"/>
          <p:cNvSpPr/>
          <p:nvPr/>
        </p:nvSpPr>
        <p:spPr>
          <a:xfrm>
            <a:off x="1016000" y="4846320"/>
            <a:ext cx="21452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players (400 / 400)</a:t>
            </a:r>
            <a:endParaRPr lang="en-US" sz="1200" dirty="0"/>
          </a:p>
        </p:txBody>
      </p:sp>
      <p:sp>
        <p:nvSpPr>
          <p:cNvPr id="14" name="Shape 12"/>
          <p:cNvSpPr/>
          <p:nvPr/>
        </p:nvSpPr>
        <p:spPr>
          <a:xfrm>
            <a:off x="3505200" y="4135120"/>
            <a:ext cx="2489200" cy="1127760"/>
          </a:xfrm>
          <a:prstGeom prst="roundRect">
            <a:avLst>
              <a:gd name="adj" fmla="val 9009"/>
            </a:avLst>
          </a:prstGeom>
          <a:solidFill>
            <a:srgbClr val="E9E3D2"/>
          </a:solidFill>
          <a:ln/>
        </p:spPr>
      </p:sp>
      <p:sp>
        <p:nvSpPr>
          <p:cNvPr id="15" name="Text 13"/>
          <p:cNvSpPr/>
          <p:nvPr/>
        </p:nvSpPr>
        <p:spPr>
          <a:xfrm>
            <a:off x="3708400" y="4338320"/>
            <a:ext cx="21452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501A"/>
                </a:solidFill>
                <a:latin typeface="Source Serif 4" pitchFamily="18" charset="0"/>
                <a:ea typeface="Source Serif 4" pitchFamily="18" charset="-122"/>
                <a:cs typeface="Source Serif 4" pitchFamily="18" charset="-120"/>
              </a:rPr>
              <a:t>18</a:t>
            </a:r>
            <a:endParaRPr lang="en-US" sz="3600" dirty="0"/>
          </a:p>
        </p:txBody>
      </p:sp>
      <p:sp>
        <p:nvSpPr>
          <p:cNvPr id="16" name="Text 14"/>
          <p:cNvSpPr/>
          <p:nvPr/>
        </p:nvSpPr>
        <p:spPr>
          <a:xfrm>
            <a:off x="3708400" y="4846320"/>
            <a:ext cx="21452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baseline features</a:t>
            </a:r>
            <a:endParaRPr lang="en-US" sz="1200" dirty="0"/>
          </a:p>
        </p:txBody>
      </p:sp>
      <p:sp>
        <p:nvSpPr>
          <p:cNvPr id="17" name="Shape 15"/>
          <p:cNvSpPr/>
          <p:nvPr/>
        </p:nvSpPr>
        <p:spPr>
          <a:xfrm>
            <a:off x="6197600" y="4135120"/>
            <a:ext cx="2489200" cy="1127760"/>
          </a:xfrm>
          <a:prstGeom prst="roundRect">
            <a:avLst>
              <a:gd name="adj" fmla="val 9009"/>
            </a:avLst>
          </a:prstGeom>
          <a:solidFill>
            <a:srgbClr val="E9E3D2"/>
          </a:solidFill>
          <a:ln/>
        </p:spPr>
      </p:sp>
      <p:sp>
        <p:nvSpPr>
          <p:cNvPr id="18" name="Text 16"/>
          <p:cNvSpPr/>
          <p:nvPr/>
        </p:nvSpPr>
        <p:spPr>
          <a:xfrm>
            <a:off x="6400800" y="4338320"/>
            <a:ext cx="21452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501A"/>
                </a:solidFill>
                <a:latin typeface="Source Serif 4" pitchFamily="18" charset="0"/>
                <a:ea typeface="Source Serif 4" pitchFamily="18" charset="-122"/>
                <a:cs typeface="Source Serif 4" pitchFamily="18" charset="-120"/>
              </a:rPr>
              <a:t>10</a:t>
            </a:r>
            <a:endParaRPr lang="en-US" sz="3600" dirty="0"/>
          </a:p>
        </p:txBody>
      </p:sp>
      <p:sp>
        <p:nvSpPr>
          <p:cNvPr id="19" name="Text 17"/>
          <p:cNvSpPr/>
          <p:nvPr/>
        </p:nvSpPr>
        <p:spPr>
          <a:xfrm>
            <a:off x="6400800" y="4846320"/>
            <a:ext cx="21452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algorithms compared</a:t>
            </a:r>
            <a:endParaRPr lang="en-US" sz="1200" dirty="0"/>
          </a:p>
        </p:txBody>
      </p:sp>
      <p:sp>
        <p:nvSpPr>
          <p:cNvPr id="20" name="Shape 18"/>
          <p:cNvSpPr/>
          <p:nvPr/>
        </p:nvSpPr>
        <p:spPr>
          <a:xfrm>
            <a:off x="8890000" y="4135120"/>
            <a:ext cx="2489200" cy="1127760"/>
          </a:xfrm>
          <a:prstGeom prst="roundRect">
            <a:avLst>
              <a:gd name="adj" fmla="val 9009"/>
            </a:avLst>
          </a:prstGeom>
          <a:solidFill>
            <a:srgbClr val="E9E3D2"/>
          </a:solidFill>
          <a:ln/>
        </p:spPr>
      </p:sp>
      <p:sp>
        <p:nvSpPr>
          <p:cNvPr id="21" name="Text 19"/>
          <p:cNvSpPr/>
          <p:nvPr/>
        </p:nvSpPr>
        <p:spPr>
          <a:xfrm>
            <a:off x="9093200" y="4338320"/>
            <a:ext cx="21452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501A"/>
                </a:solidFill>
                <a:latin typeface="Source Serif 4" pitchFamily="18" charset="0"/>
                <a:ea typeface="Source Serif 4" pitchFamily="18" charset="-122"/>
                <a:cs typeface="Source Serif 4" pitchFamily="18" charset="-120"/>
              </a:rPr>
              <a:t>0.992</a:t>
            </a:r>
            <a:endParaRPr lang="en-US" sz="3600" dirty="0"/>
          </a:p>
        </p:txBody>
      </p:sp>
      <p:sp>
        <p:nvSpPr>
          <p:cNvPr id="22" name="Text 20"/>
          <p:cNvSpPr/>
          <p:nvPr/>
        </p:nvSpPr>
        <p:spPr>
          <a:xfrm>
            <a:off x="9093200" y="4846320"/>
            <a:ext cx="21452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reported ROC-AUC (SVM)</a:t>
            </a:r>
            <a:endParaRPr lang="en-US" sz="1200" dirty="0"/>
          </a:p>
        </p:txBody>
      </p:sp>
      <p:sp>
        <p:nvSpPr>
          <p:cNvPr id="23" name="Text 21"/>
          <p:cNvSpPr/>
          <p:nvPr/>
        </p:nvSpPr>
        <p:spPr>
          <a:xfrm>
            <a:off x="812800" y="6238239"/>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Football is injury-prone: up to 27.1 injuries per 1,000 match hours (FIFA)</a:t>
            </a:r>
            <a:endParaRPr lang="en-US" sz="1200" dirty="0"/>
          </a:p>
        </p:txBody>
      </p:sp>
      <p:sp>
        <p:nvSpPr>
          <p:cNvPr id="24" name="Text 22"/>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6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5"/>
                </a:solidFill>
                <a:latin typeface="IBM Plex Sans" pitchFamily="34" charset="0"/>
                <a:ea typeface="IBM Plex Sans" pitchFamily="34" charset="-122"/>
                <a:cs typeface="IBM Plex Sans" pitchFamily="34" charset="-120"/>
              </a:rPr>
              <a:t>APPROACH</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ource Serif 4" pitchFamily="18" charset="0"/>
                <a:ea typeface="Source Serif 4" pitchFamily="18" charset="-122"/>
                <a:cs typeface="Source Serif 4" pitchFamily="18" charset="-120"/>
              </a:rPr>
              <a:t>From raw data to explainable risk</a:t>
            </a:r>
            <a:endParaRPr lang="en-US" sz="3600" dirty="0"/>
          </a:p>
        </p:txBody>
      </p:sp>
      <p:sp>
        <p:nvSpPr>
          <p:cNvPr id="4" name="Shape 2"/>
          <p:cNvSpPr/>
          <p:nvPr/>
        </p:nvSpPr>
        <p:spPr>
          <a:xfrm>
            <a:off x="815975" y="1862455"/>
            <a:ext cx="1331383" cy="1294130"/>
          </a:xfrm>
          <a:prstGeom prst="roundRect">
            <a:avLst>
              <a:gd name="adj" fmla="val 7605"/>
            </a:avLst>
          </a:prstGeom>
          <a:solidFill>
            <a:srgbClr val="17353B"/>
          </a:solidFill>
          <a:ln w="6350">
            <a:solidFill>
              <a:srgbClr val="2E4A50"/>
            </a:solidFill>
            <a:prstDash val="solid"/>
          </a:ln>
        </p:spPr>
      </p:sp>
      <p:pic>
        <p:nvPicPr>
          <p:cNvPr id="5" name="Image 0" descr="Database">    </p:cNvPr>
          <p:cNvPicPr>
            <a:picLocks noChangeAspect="1"/>
          </p:cNvPicPr>
          <p:nvPr/>
        </p:nvPicPr>
        <p:blipFill>
          <a:blip r:embed="rId1"/>
          <a:srcRect l="0" r="0" t="0" b="0"/>
          <a:stretch/>
        </p:blipFill>
        <p:spPr>
          <a:xfrm>
            <a:off x="1303867" y="2067561"/>
            <a:ext cx="355600" cy="355600"/>
          </a:xfrm>
          <a:prstGeom prst="rect">
            <a:avLst/>
          </a:prstGeom>
        </p:spPr>
      </p:pic>
      <p:sp>
        <p:nvSpPr>
          <p:cNvPr id="6" name="Text 3"/>
          <p:cNvSpPr/>
          <p:nvPr/>
        </p:nvSpPr>
        <p:spPr>
          <a:xfrm>
            <a:off x="894080"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Raw baseline data</a:t>
            </a:r>
            <a:endParaRPr lang="en-US" sz="1200" dirty="0"/>
          </a:p>
        </p:txBody>
      </p:sp>
      <p:pic>
        <p:nvPicPr>
          <p:cNvPr id="7" name="Image 1" descr="arrow-right">    </p:cNvPr>
          <p:cNvPicPr>
            <a:picLocks noChangeAspect="1"/>
          </p:cNvPicPr>
          <p:nvPr/>
        </p:nvPicPr>
        <p:blipFill>
          <a:blip r:embed="rId2"/>
          <a:srcRect l="0" r="0" t="0" b="0"/>
          <a:stretch/>
        </p:blipFill>
        <p:spPr>
          <a:xfrm>
            <a:off x="2252133" y="2433320"/>
            <a:ext cx="304800" cy="152400"/>
          </a:xfrm>
          <a:prstGeom prst="rect">
            <a:avLst/>
          </a:prstGeom>
        </p:spPr>
      </p:pic>
      <p:sp>
        <p:nvSpPr>
          <p:cNvPr id="8" name="Shape 4"/>
          <p:cNvSpPr/>
          <p:nvPr/>
        </p:nvSpPr>
        <p:spPr>
          <a:xfrm>
            <a:off x="2661708" y="1862455"/>
            <a:ext cx="1331383" cy="1294130"/>
          </a:xfrm>
          <a:prstGeom prst="roundRect">
            <a:avLst>
              <a:gd name="adj" fmla="val 7605"/>
            </a:avLst>
          </a:prstGeom>
          <a:solidFill>
            <a:srgbClr val="17353B"/>
          </a:solidFill>
          <a:ln w="6350">
            <a:solidFill>
              <a:srgbClr val="2E4A50"/>
            </a:solidFill>
            <a:prstDash val="solid"/>
          </a:ln>
        </p:spPr>
      </p:sp>
      <p:pic>
        <p:nvPicPr>
          <p:cNvPr id="9" name="Image 2" descr="Wrench">    </p:cNvPr>
          <p:cNvPicPr>
            <a:picLocks noChangeAspect="1"/>
          </p:cNvPicPr>
          <p:nvPr/>
        </p:nvPicPr>
        <p:blipFill>
          <a:blip r:embed="rId3"/>
          <a:srcRect l="0" r="0" t="0" b="0"/>
          <a:stretch/>
        </p:blipFill>
        <p:spPr>
          <a:xfrm>
            <a:off x="3149600" y="2067561"/>
            <a:ext cx="355600" cy="355600"/>
          </a:xfrm>
          <a:prstGeom prst="rect">
            <a:avLst/>
          </a:prstGeom>
        </p:spPr>
      </p:pic>
      <p:sp>
        <p:nvSpPr>
          <p:cNvPr id="10" name="Text 5"/>
          <p:cNvSpPr/>
          <p:nvPr/>
        </p:nvSpPr>
        <p:spPr>
          <a:xfrm>
            <a:off x="2739813"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Clean and encode</a:t>
            </a:r>
            <a:endParaRPr lang="en-US" sz="1200" dirty="0"/>
          </a:p>
        </p:txBody>
      </p:sp>
      <p:pic>
        <p:nvPicPr>
          <p:cNvPr id="11" name="Image 3" descr="arrow-right">    </p:cNvPr>
          <p:cNvPicPr>
            <a:picLocks noChangeAspect="1"/>
          </p:cNvPicPr>
          <p:nvPr/>
        </p:nvPicPr>
        <p:blipFill>
          <a:blip r:embed="rId4"/>
          <a:srcRect l="0" r="0" t="0" b="0"/>
          <a:stretch/>
        </p:blipFill>
        <p:spPr>
          <a:xfrm>
            <a:off x="4097867" y="2433320"/>
            <a:ext cx="304800" cy="152400"/>
          </a:xfrm>
          <a:prstGeom prst="rect">
            <a:avLst/>
          </a:prstGeom>
        </p:spPr>
      </p:pic>
      <p:sp>
        <p:nvSpPr>
          <p:cNvPr id="12" name="Shape 6"/>
          <p:cNvSpPr/>
          <p:nvPr/>
        </p:nvSpPr>
        <p:spPr>
          <a:xfrm>
            <a:off x="4507442" y="1862455"/>
            <a:ext cx="1331383" cy="1294130"/>
          </a:xfrm>
          <a:prstGeom prst="roundRect">
            <a:avLst>
              <a:gd name="adj" fmla="val 7605"/>
            </a:avLst>
          </a:prstGeom>
          <a:solidFill>
            <a:srgbClr val="17353B"/>
          </a:solidFill>
          <a:ln w="6350">
            <a:solidFill>
              <a:srgbClr val="2E4A50"/>
            </a:solidFill>
            <a:prstDash val="solid"/>
          </a:ln>
        </p:spPr>
      </p:sp>
      <p:pic>
        <p:nvPicPr>
          <p:cNvPr id="13" name="Image 4" descr="Chart">    </p:cNvPr>
          <p:cNvPicPr>
            <a:picLocks noChangeAspect="1"/>
          </p:cNvPicPr>
          <p:nvPr/>
        </p:nvPicPr>
        <p:blipFill>
          <a:blip r:embed="rId5"/>
          <a:srcRect l="0" r="0" t="0" b="0"/>
          <a:stretch/>
        </p:blipFill>
        <p:spPr>
          <a:xfrm>
            <a:off x="4995333" y="2067561"/>
            <a:ext cx="355600" cy="355600"/>
          </a:xfrm>
          <a:prstGeom prst="rect">
            <a:avLst/>
          </a:prstGeom>
        </p:spPr>
      </p:pic>
      <p:sp>
        <p:nvSpPr>
          <p:cNvPr id="14" name="Text 7"/>
          <p:cNvSpPr/>
          <p:nvPr/>
        </p:nvSpPr>
        <p:spPr>
          <a:xfrm>
            <a:off x="4585546"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10-model benchmark</a:t>
            </a:r>
            <a:endParaRPr lang="en-US" sz="1200" dirty="0"/>
          </a:p>
        </p:txBody>
      </p:sp>
      <p:pic>
        <p:nvPicPr>
          <p:cNvPr id="15" name="Image 5" descr="arrow-right">    </p:cNvPr>
          <p:cNvPicPr>
            <a:picLocks noChangeAspect="1"/>
          </p:cNvPicPr>
          <p:nvPr/>
        </p:nvPicPr>
        <p:blipFill>
          <a:blip r:embed="rId6"/>
          <a:srcRect l="0" r="0" t="0" b="0"/>
          <a:stretch/>
        </p:blipFill>
        <p:spPr>
          <a:xfrm>
            <a:off x="5943600" y="2433320"/>
            <a:ext cx="304800" cy="152400"/>
          </a:xfrm>
          <a:prstGeom prst="rect">
            <a:avLst/>
          </a:prstGeom>
        </p:spPr>
      </p:pic>
      <p:sp>
        <p:nvSpPr>
          <p:cNvPr id="16" name="Shape 8"/>
          <p:cNvSpPr/>
          <p:nvPr/>
        </p:nvSpPr>
        <p:spPr>
          <a:xfrm>
            <a:off x="6353175" y="1862455"/>
            <a:ext cx="1331383" cy="1294130"/>
          </a:xfrm>
          <a:prstGeom prst="roundRect">
            <a:avLst>
              <a:gd name="adj" fmla="val 7605"/>
            </a:avLst>
          </a:prstGeom>
          <a:solidFill>
            <a:srgbClr val="17353B"/>
          </a:solidFill>
          <a:ln w="6350">
            <a:solidFill>
              <a:srgbClr val="2E4A50"/>
            </a:solidFill>
            <a:prstDash val="solid"/>
          </a:ln>
        </p:spPr>
      </p:sp>
      <p:pic>
        <p:nvPicPr>
          <p:cNvPr id="17" name="Image 6" descr="Verified">    </p:cNvPr>
          <p:cNvPicPr>
            <a:picLocks noChangeAspect="1"/>
          </p:cNvPicPr>
          <p:nvPr/>
        </p:nvPicPr>
        <p:blipFill>
          <a:blip r:embed="rId7"/>
          <a:srcRect l="0" r="0" t="0" b="0"/>
          <a:stretch/>
        </p:blipFill>
        <p:spPr>
          <a:xfrm>
            <a:off x="6841067" y="2067561"/>
            <a:ext cx="355600" cy="355600"/>
          </a:xfrm>
          <a:prstGeom prst="rect">
            <a:avLst/>
          </a:prstGeom>
        </p:spPr>
      </p:pic>
      <p:sp>
        <p:nvSpPr>
          <p:cNvPr id="18" name="Text 9"/>
          <p:cNvSpPr/>
          <p:nvPr/>
        </p:nvSpPr>
        <p:spPr>
          <a:xfrm>
            <a:off x="6431280"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Best model: SVM (RBF)</a:t>
            </a:r>
            <a:endParaRPr lang="en-US" sz="1200" dirty="0"/>
          </a:p>
        </p:txBody>
      </p:sp>
      <p:pic>
        <p:nvPicPr>
          <p:cNvPr id="19" name="Image 7" descr="arrow-right">    </p:cNvPr>
          <p:cNvPicPr>
            <a:picLocks noChangeAspect="1"/>
          </p:cNvPicPr>
          <p:nvPr/>
        </p:nvPicPr>
        <p:blipFill>
          <a:blip r:embed="rId8"/>
          <a:srcRect l="0" r="0" t="0" b="0"/>
          <a:stretch/>
        </p:blipFill>
        <p:spPr>
          <a:xfrm>
            <a:off x="7789333" y="2433320"/>
            <a:ext cx="304800" cy="152400"/>
          </a:xfrm>
          <a:prstGeom prst="rect">
            <a:avLst/>
          </a:prstGeom>
        </p:spPr>
      </p:pic>
      <p:sp>
        <p:nvSpPr>
          <p:cNvPr id="20" name="Shape 10"/>
          <p:cNvSpPr/>
          <p:nvPr/>
        </p:nvSpPr>
        <p:spPr>
          <a:xfrm>
            <a:off x="8198908" y="1862455"/>
            <a:ext cx="1331383" cy="1294130"/>
          </a:xfrm>
          <a:prstGeom prst="roundRect">
            <a:avLst>
              <a:gd name="adj" fmla="val 7605"/>
            </a:avLst>
          </a:prstGeom>
          <a:solidFill>
            <a:srgbClr val="17353B"/>
          </a:solidFill>
          <a:ln w="6350">
            <a:solidFill>
              <a:srgbClr val="2E4A50"/>
            </a:solidFill>
            <a:prstDash val="solid"/>
          </a:ln>
        </p:spPr>
      </p:sp>
      <p:pic>
        <p:nvPicPr>
          <p:cNvPr id="21" name="Image 8" descr="Search">    </p:cNvPr>
          <p:cNvPicPr>
            <a:picLocks noChangeAspect="1"/>
          </p:cNvPicPr>
          <p:nvPr/>
        </p:nvPicPr>
        <p:blipFill>
          <a:blip r:embed="rId9"/>
          <a:srcRect l="0" r="0" t="0" b="0"/>
          <a:stretch/>
        </p:blipFill>
        <p:spPr>
          <a:xfrm>
            <a:off x="8686800" y="2067561"/>
            <a:ext cx="355600" cy="355600"/>
          </a:xfrm>
          <a:prstGeom prst="rect">
            <a:avLst/>
          </a:prstGeom>
        </p:spPr>
      </p:pic>
      <p:sp>
        <p:nvSpPr>
          <p:cNvPr id="22" name="Text 11"/>
          <p:cNvSpPr/>
          <p:nvPr/>
        </p:nvSpPr>
        <p:spPr>
          <a:xfrm>
            <a:off x="8277013"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SHAP explanation</a:t>
            </a:r>
            <a:endParaRPr lang="en-US" sz="1200" dirty="0"/>
          </a:p>
        </p:txBody>
      </p:sp>
      <p:pic>
        <p:nvPicPr>
          <p:cNvPr id="23" name="Image 9" descr="arrow-right">    </p:cNvPr>
          <p:cNvPicPr>
            <a:picLocks noChangeAspect="1"/>
          </p:cNvPicPr>
          <p:nvPr/>
        </p:nvPicPr>
        <p:blipFill>
          <a:blip r:embed="rId10"/>
          <a:srcRect l="0" r="0" t="0" b="0"/>
          <a:stretch/>
        </p:blipFill>
        <p:spPr>
          <a:xfrm>
            <a:off x="9635067" y="2433320"/>
            <a:ext cx="304800" cy="152400"/>
          </a:xfrm>
          <a:prstGeom prst="rect">
            <a:avLst/>
          </a:prstGeom>
        </p:spPr>
      </p:pic>
      <p:sp>
        <p:nvSpPr>
          <p:cNvPr id="24" name="Shape 12"/>
          <p:cNvSpPr/>
          <p:nvPr/>
        </p:nvSpPr>
        <p:spPr>
          <a:xfrm>
            <a:off x="10044642" y="1862455"/>
            <a:ext cx="1331383" cy="1294130"/>
          </a:xfrm>
          <a:prstGeom prst="roundRect">
            <a:avLst>
              <a:gd name="adj" fmla="val 7605"/>
            </a:avLst>
          </a:prstGeom>
          <a:solidFill>
            <a:srgbClr val="17353B"/>
          </a:solidFill>
          <a:ln w="6350">
            <a:solidFill>
              <a:srgbClr val="2E4A50"/>
            </a:solidFill>
            <a:prstDash val="solid"/>
          </a:ln>
        </p:spPr>
      </p:sp>
      <p:pic>
        <p:nvPicPr>
          <p:cNvPr id="25" name="Image 10" descr="Users">    </p:cNvPr>
          <p:cNvPicPr>
            <a:picLocks noChangeAspect="1"/>
          </p:cNvPicPr>
          <p:nvPr/>
        </p:nvPicPr>
        <p:blipFill>
          <a:blip r:embed="rId11"/>
          <a:srcRect l="0" r="0" t="0" b="0"/>
          <a:stretch/>
        </p:blipFill>
        <p:spPr>
          <a:xfrm>
            <a:off x="10532533" y="2067561"/>
            <a:ext cx="355600" cy="355600"/>
          </a:xfrm>
          <a:prstGeom prst="rect">
            <a:avLst/>
          </a:prstGeom>
        </p:spPr>
      </p:pic>
      <p:sp>
        <p:nvSpPr>
          <p:cNvPr id="26" name="Text 13"/>
          <p:cNvSpPr/>
          <p:nvPr/>
        </p:nvSpPr>
        <p:spPr>
          <a:xfrm>
            <a:off x="10122746" y="2524761"/>
            <a:ext cx="1175173"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Risk category for coaches</a:t>
            </a:r>
            <a:endParaRPr lang="en-US" sz="1200" dirty="0"/>
          </a:p>
        </p:txBody>
      </p:sp>
      <p:sp>
        <p:nvSpPr>
          <p:cNvPr id="27" name="Shape 14"/>
          <p:cNvSpPr/>
          <p:nvPr/>
        </p:nvSpPr>
        <p:spPr>
          <a:xfrm>
            <a:off x="812800" y="3413761"/>
            <a:ext cx="3386667" cy="1402080"/>
          </a:xfrm>
          <a:prstGeom prst="roundRect">
            <a:avLst>
              <a:gd name="adj" fmla="val 7246"/>
            </a:avLst>
          </a:prstGeom>
          <a:solidFill>
            <a:srgbClr val="17353B"/>
          </a:solidFill>
          <a:ln/>
        </p:spPr>
      </p:sp>
      <p:sp>
        <p:nvSpPr>
          <p:cNvPr id="28" name="Shape 15"/>
          <p:cNvSpPr/>
          <p:nvPr/>
        </p:nvSpPr>
        <p:spPr>
          <a:xfrm>
            <a:off x="812800" y="3413761"/>
            <a:ext cx="3386667" cy="1402080"/>
          </a:xfrm>
          <a:custGeom>
            <a:avLst/>
            <a:gdLst/>
            <a:ahLst/>
            <a:cxnLst/>
            <a:rect l="l" t="t" r="r" b="b"/>
            <a:pathLst>
              <a:path w="3386667" h="1402080">
                <a:moveTo>
                  <a:pt x="0" y="101600"/>
                </a:moveTo>
                <a:lnTo>
                  <a:pt x="0" y="101600"/>
                </a:lnTo>
                <a:arcTo hR="101600" wR="101600" stAng="10800000" swAng="5400000"/>
                <a:lnTo>
                  <a:pt x="3285067" y="0"/>
                </a:lnTo>
                <a:arcTo hR="101600" wR="101600" stAng="16200000" swAng="5400000"/>
                <a:lnTo>
                  <a:pt x="3386667" y="101600"/>
                </a:lnTo>
                <a:arcTo hR="63500" wR="101600" stAng="0" swAng="-5400000"/>
                <a:lnTo>
                  <a:pt x="101600" y="38100"/>
                </a:lnTo>
                <a:arcTo hR="63500" wR="101600" stAng="16200000" swAng="-5400000"/>
                <a:close/>
              </a:path>
            </a:pathLst>
          </a:custGeom>
          <a:solidFill>
            <a:srgbClr val="F08A45"/>
          </a:solidFill>
          <a:ln/>
        </p:spPr>
      </p:sp>
      <p:sp>
        <p:nvSpPr>
          <p:cNvPr id="29" name="Text 16"/>
          <p:cNvSpPr/>
          <p:nvPr/>
        </p:nvSpPr>
        <p:spPr>
          <a:xfrm>
            <a:off x="1016000" y="365252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IBM Plex Sans" pitchFamily="34" charset="0"/>
                <a:ea typeface="IBM Plex Sans" pitchFamily="34" charset="-122"/>
                <a:cs typeface="IBM Plex Sans" pitchFamily="34" charset="-120"/>
              </a:rPr>
              <a:t>Kernel learning</a:t>
            </a:r>
            <a:endParaRPr lang="en-US" sz="1600" dirty="0"/>
          </a:p>
        </p:txBody>
      </p:sp>
      <p:sp>
        <p:nvSpPr>
          <p:cNvPr id="30" name="Text 17"/>
          <p:cNvSpPr/>
          <p:nvPr/>
        </p:nvSpPr>
        <p:spPr>
          <a:xfrm>
            <a:off x="1016000" y="3972561"/>
            <a:ext cx="30696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SVM learns a non-linear boundary from noisy data; the soft margin tolerates overlapping classes.</a:t>
            </a:r>
            <a:endParaRPr lang="en-US" sz="1200" dirty="0"/>
          </a:p>
        </p:txBody>
      </p:sp>
      <p:sp>
        <p:nvSpPr>
          <p:cNvPr id="31" name="Shape 18"/>
          <p:cNvSpPr/>
          <p:nvPr/>
        </p:nvSpPr>
        <p:spPr>
          <a:xfrm>
            <a:off x="4402667" y="3413761"/>
            <a:ext cx="3386667" cy="1402080"/>
          </a:xfrm>
          <a:prstGeom prst="roundRect">
            <a:avLst>
              <a:gd name="adj" fmla="val 7246"/>
            </a:avLst>
          </a:prstGeom>
          <a:solidFill>
            <a:srgbClr val="17353B"/>
          </a:solidFill>
          <a:ln/>
        </p:spPr>
      </p:sp>
      <p:sp>
        <p:nvSpPr>
          <p:cNvPr id="32" name="Shape 19"/>
          <p:cNvSpPr/>
          <p:nvPr/>
        </p:nvSpPr>
        <p:spPr>
          <a:xfrm>
            <a:off x="4402667" y="3413761"/>
            <a:ext cx="3386667" cy="1402080"/>
          </a:xfrm>
          <a:custGeom>
            <a:avLst/>
            <a:gdLst/>
            <a:ahLst/>
            <a:cxnLst/>
            <a:rect l="l" t="t" r="r" b="b"/>
            <a:pathLst>
              <a:path w="3386667" h="1402080">
                <a:moveTo>
                  <a:pt x="0" y="101600"/>
                </a:moveTo>
                <a:lnTo>
                  <a:pt x="0" y="101600"/>
                </a:lnTo>
                <a:arcTo hR="101600" wR="101600" stAng="10800000" swAng="5400000"/>
                <a:lnTo>
                  <a:pt x="3285067" y="0"/>
                </a:lnTo>
                <a:arcTo hR="101600" wR="101600" stAng="16200000" swAng="5400000"/>
                <a:lnTo>
                  <a:pt x="3386667" y="101600"/>
                </a:lnTo>
                <a:arcTo hR="63500" wR="101600" stAng="0" swAng="-5400000"/>
                <a:lnTo>
                  <a:pt x="101600" y="38100"/>
                </a:lnTo>
                <a:arcTo hR="63500" wR="101600" stAng="16200000" swAng="-5400000"/>
                <a:close/>
              </a:path>
            </a:pathLst>
          </a:custGeom>
          <a:solidFill>
            <a:srgbClr val="F08A45"/>
          </a:solidFill>
          <a:ln/>
        </p:spPr>
      </p:sp>
      <p:sp>
        <p:nvSpPr>
          <p:cNvPr id="33" name="Text 20"/>
          <p:cNvSpPr/>
          <p:nvPr/>
        </p:nvSpPr>
        <p:spPr>
          <a:xfrm>
            <a:off x="4605867" y="365252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IBM Plex Sans" pitchFamily="34" charset="0"/>
                <a:ea typeface="IBM Plex Sans" pitchFamily="34" charset="-122"/>
                <a:cs typeface="IBM Plex Sans" pitchFamily="34" charset="-120"/>
              </a:rPr>
              <a:t>Ensembles, probabilities</a:t>
            </a:r>
            <a:endParaRPr lang="en-US" sz="1600" dirty="0"/>
          </a:p>
        </p:txBody>
      </p:sp>
      <p:sp>
        <p:nvSpPr>
          <p:cNvPr id="34" name="Text 21"/>
          <p:cNvSpPr/>
          <p:nvPr/>
        </p:nvSpPr>
        <p:spPr>
          <a:xfrm>
            <a:off x="4605867" y="3972561"/>
            <a:ext cx="30696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Many weak trees form a robust decision; Naive Bayes and logistic regression express uncertainty.</a:t>
            </a:r>
            <a:endParaRPr lang="en-US" sz="1200" dirty="0"/>
          </a:p>
        </p:txBody>
      </p:sp>
      <p:sp>
        <p:nvSpPr>
          <p:cNvPr id="35" name="Shape 22"/>
          <p:cNvSpPr/>
          <p:nvPr/>
        </p:nvSpPr>
        <p:spPr>
          <a:xfrm>
            <a:off x="7992533" y="3413761"/>
            <a:ext cx="3386667" cy="1402080"/>
          </a:xfrm>
          <a:prstGeom prst="roundRect">
            <a:avLst>
              <a:gd name="adj" fmla="val 7246"/>
            </a:avLst>
          </a:prstGeom>
          <a:solidFill>
            <a:srgbClr val="17353B"/>
          </a:solidFill>
          <a:ln/>
        </p:spPr>
      </p:sp>
      <p:sp>
        <p:nvSpPr>
          <p:cNvPr id="36" name="Shape 23"/>
          <p:cNvSpPr/>
          <p:nvPr/>
        </p:nvSpPr>
        <p:spPr>
          <a:xfrm>
            <a:off x="7992533" y="3413761"/>
            <a:ext cx="3386667" cy="1402080"/>
          </a:xfrm>
          <a:custGeom>
            <a:avLst/>
            <a:gdLst/>
            <a:ahLst/>
            <a:cxnLst/>
            <a:rect l="l" t="t" r="r" b="b"/>
            <a:pathLst>
              <a:path w="3386667" h="1402080">
                <a:moveTo>
                  <a:pt x="0" y="101600"/>
                </a:moveTo>
                <a:lnTo>
                  <a:pt x="0" y="101600"/>
                </a:lnTo>
                <a:arcTo hR="101600" wR="101600" stAng="10800000" swAng="5400000"/>
                <a:lnTo>
                  <a:pt x="3285067" y="0"/>
                </a:lnTo>
                <a:arcTo hR="101600" wR="101600" stAng="16200000" swAng="5400000"/>
                <a:lnTo>
                  <a:pt x="3386667" y="101600"/>
                </a:lnTo>
                <a:arcTo hR="63500" wR="101600" stAng="0" swAng="-5400000"/>
                <a:lnTo>
                  <a:pt x="101600" y="38100"/>
                </a:lnTo>
                <a:arcTo hR="63500" wR="101600" stAng="16200000" swAng="-5400000"/>
                <a:close/>
              </a:path>
            </a:pathLst>
          </a:custGeom>
          <a:solidFill>
            <a:srgbClr val="F08A45"/>
          </a:solidFill>
          <a:ln/>
        </p:spPr>
      </p:sp>
      <p:sp>
        <p:nvSpPr>
          <p:cNvPr id="37" name="Text 24"/>
          <p:cNvSpPr/>
          <p:nvPr/>
        </p:nvSpPr>
        <p:spPr>
          <a:xfrm>
            <a:off x="8195733" y="365252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IBM Plex Sans" pitchFamily="34" charset="0"/>
                <a:ea typeface="IBM Plex Sans" pitchFamily="34" charset="-122"/>
                <a:cs typeface="IBM Plex Sans" pitchFamily="34" charset="-120"/>
              </a:rPr>
              <a:t>Approximate SHAP</a:t>
            </a:r>
            <a:endParaRPr lang="en-US" sz="1600" dirty="0"/>
          </a:p>
        </p:txBody>
      </p:sp>
      <p:sp>
        <p:nvSpPr>
          <p:cNvPr id="38" name="Text 25"/>
          <p:cNvSpPr/>
          <p:nvPr/>
        </p:nvSpPr>
        <p:spPr>
          <a:xfrm>
            <a:off x="8195733" y="3972561"/>
            <a:ext cx="30696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Approximates feature contributions where 2^18 coalitions is intractable.</a:t>
            </a:r>
            <a:endParaRPr lang="en-US" sz="1200" dirty="0"/>
          </a:p>
        </p:txBody>
      </p:sp>
      <p:sp>
        <p:nvSpPr>
          <p:cNvPr id="39" name="Text 26"/>
          <p:cNvSpPr/>
          <p:nvPr/>
        </p:nvSpPr>
        <p:spPr>
          <a:xfrm>
            <a:off x="812800" y="6238239"/>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A5"/>
                </a:solidFill>
                <a:latin typeface="IBM Plex Sans" pitchFamily="34" charset="0"/>
                <a:ea typeface="IBM Plex Sans" pitchFamily="34" charset="-122"/>
                <a:cs typeface="IBM Plex Sans" pitchFamily="34" charset="-120"/>
              </a:rPr>
              <a:t>Absent from the paper: fuzzy logic, neural networks, evolutionary search</a:t>
            </a:r>
            <a:endParaRPr lang="en-US" sz="1200" dirty="0"/>
          </a:p>
        </p:txBody>
      </p:sp>
      <p:sp>
        <p:nvSpPr>
          <p:cNvPr id="40" name="Text 2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8A5"/>
                </a:solidFill>
                <a:latin typeface="IBM Plex Sans" pitchFamily="34" charset="0"/>
                <a:ea typeface="IBM Plex Sans" pitchFamily="34" charset="-122"/>
                <a:cs typeface="IBM Plex Sans" pitchFamily="34" charset="-120"/>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A"/>
                </a:solidFill>
                <a:latin typeface="IBM Plex Sans" pitchFamily="34" charset="0"/>
                <a:ea typeface="IBM Plex Sans" pitchFamily="34" charset="-122"/>
                <a:cs typeface="IBM Plex Sans" pitchFamily="34" charset="-120"/>
              </a:rPr>
              <a:t>METHODOLOGY</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62B"/>
                </a:solidFill>
                <a:latin typeface="Source Serif 4" pitchFamily="18" charset="0"/>
                <a:ea typeface="Source Serif 4" pitchFamily="18" charset="-122"/>
                <a:cs typeface="Source Serif 4" pitchFamily="18" charset="-120"/>
              </a:rPr>
              <a:t>Data, preprocessing and models</a:t>
            </a:r>
            <a:endParaRPr lang="en-US" sz="3600" dirty="0"/>
          </a:p>
        </p:txBody>
      </p:sp>
      <p:sp>
        <p:nvSpPr>
          <p:cNvPr id="4" name="Shape 2"/>
          <p:cNvSpPr/>
          <p:nvPr/>
        </p:nvSpPr>
        <p:spPr>
          <a:xfrm>
            <a:off x="815975" y="1862455"/>
            <a:ext cx="2482850" cy="1700530"/>
          </a:xfrm>
          <a:prstGeom prst="roundRect">
            <a:avLst>
              <a:gd name="adj" fmla="val 5788"/>
            </a:avLst>
          </a:prstGeom>
          <a:solidFill>
            <a:srgbClr val="FFFDF8"/>
          </a:solidFill>
          <a:ln w="6350">
            <a:solidFill>
              <a:srgbClr val="DDD7C8"/>
            </a:solidFill>
            <a:prstDash val="solid"/>
          </a:ln>
        </p:spPr>
      </p:sp>
      <p:sp>
        <p:nvSpPr>
          <p:cNvPr id="5" name="Text 3"/>
          <p:cNvSpPr/>
          <p:nvPr/>
        </p:nvSpPr>
        <p:spPr>
          <a:xfrm>
            <a:off x="1021080" y="2067561"/>
            <a:ext cx="21348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5 features</a:t>
            </a:r>
            <a:endParaRPr lang="en-US" sz="1200" dirty="0"/>
          </a:p>
        </p:txBody>
      </p:sp>
      <p:sp>
        <p:nvSpPr>
          <p:cNvPr id="6" name="Text 4"/>
          <p:cNvSpPr/>
          <p:nvPr/>
        </p:nvSpPr>
        <p:spPr>
          <a:xfrm>
            <a:off x="1021080" y="2357120"/>
            <a:ext cx="213481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6C"/>
                </a:solidFill>
                <a:latin typeface="IBM Plex Sans" pitchFamily="34" charset="0"/>
                <a:ea typeface="IBM Plex Sans" pitchFamily="34" charset="-122"/>
                <a:cs typeface="IBM Plex Sans" pitchFamily="34" charset="-120"/>
              </a:rPr>
              <a:t>Basic information</a:t>
            </a:r>
            <a:endParaRPr lang="en-US" sz="1600" dirty="0"/>
          </a:p>
        </p:txBody>
      </p:sp>
      <p:sp>
        <p:nvSpPr>
          <p:cNvPr id="7" name="Text 5"/>
          <p:cNvSpPr/>
          <p:nvPr/>
        </p:nvSpPr>
        <p:spPr>
          <a:xfrm>
            <a:off x="1021080" y="2717800"/>
            <a:ext cx="21348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Age, height, weight, BMI, position</a:t>
            </a:r>
            <a:endParaRPr lang="en-US" sz="1200" dirty="0"/>
          </a:p>
        </p:txBody>
      </p:sp>
      <p:sp>
        <p:nvSpPr>
          <p:cNvPr id="8" name="Shape 6"/>
          <p:cNvSpPr/>
          <p:nvPr/>
        </p:nvSpPr>
        <p:spPr>
          <a:xfrm>
            <a:off x="3508375" y="1862455"/>
            <a:ext cx="2482850" cy="1700530"/>
          </a:xfrm>
          <a:prstGeom prst="roundRect">
            <a:avLst>
              <a:gd name="adj" fmla="val 5788"/>
            </a:avLst>
          </a:prstGeom>
          <a:solidFill>
            <a:srgbClr val="FFFDF8"/>
          </a:solidFill>
          <a:ln w="6350">
            <a:solidFill>
              <a:srgbClr val="DDD7C8"/>
            </a:solidFill>
            <a:prstDash val="solid"/>
          </a:ln>
        </p:spPr>
      </p:sp>
      <p:sp>
        <p:nvSpPr>
          <p:cNvPr id="9" name="Text 7"/>
          <p:cNvSpPr/>
          <p:nvPr/>
        </p:nvSpPr>
        <p:spPr>
          <a:xfrm>
            <a:off x="3713480" y="2067561"/>
            <a:ext cx="21348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3 features</a:t>
            </a:r>
            <a:endParaRPr lang="en-US" sz="1200" dirty="0"/>
          </a:p>
        </p:txBody>
      </p:sp>
      <p:sp>
        <p:nvSpPr>
          <p:cNvPr id="10" name="Text 8"/>
          <p:cNvSpPr/>
          <p:nvPr/>
        </p:nvSpPr>
        <p:spPr>
          <a:xfrm>
            <a:off x="3713480" y="2357120"/>
            <a:ext cx="213481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6C"/>
                </a:solidFill>
                <a:latin typeface="IBM Plex Sans" pitchFamily="34" charset="0"/>
                <a:ea typeface="IBM Plex Sans" pitchFamily="34" charset="-122"/>
                <a:cs typeface="IBM Plex Sans" pitchFamily="34" charset="-120"/>
              </a:rPr>
              <a:t>Training</a:t>
            </a:r>
            <a:endParaRPr lang="en-US" sz="1600" dirty="0"/>
          </a:p>
        </p:txBody>
      </p:sp>
      <p:sp>
        <p:nvSpPr>
          <p:cNvPr id="11" name="Text 9"/>
          <p:cNvSpPr/>
          <p:nvPr/>
        </p:nvSpPr>
        <p:spPr>
          <a:xfrm>
            <a:off x="3713480" y="2717800"/>
            <a:ext cx="21348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Hours per week, matches played, previous injuries</a:t>
            </a:r>
            <a:endParaRPr lang="en-US" sz="1200" dirty="0"/>
          </a:p>
        </p:txBody>
      </p:sp>
      <p:sp>
        <p:nvSpPr>
          <p:cNvPr id="12" name="Shape 10"/>
          <p:cNvSpPr/>
          <p:nvPr/>
        </p:nvSpPr>
        <p:spPr>
          <a:xfrm>
            <a:off x="6200775" y="1862455"/>
            <a:ext cx="2482850" cy="1700530"/>
          </a:xfrm>
          <a:prstGeom prst="roundRect">
            <a:avLst>
              <a:gd name="adj" fmla="val 5788"/>
            </a:avLst>
          </a:prstGeom>
          <a:solidFill>
            <a:srgbClr val="FFFDF8"/>
          </a:solidFill>
          <a:ln w="6350">
            <a:solidFill>
              <a:srgbClr val="DDD7C8"/>
            </a:solidFill>
            <a:prstDash val="solid"/>
          </a:ln>
        </p:spPr>
      </p:sp>
      <p:sp>
        <p:nvSpPr>
          <p:cNvPr id="13" name="Text 11"/>
          <p:cNvSpPr/>
          <p:nvPr/>
        </p:nvSpPr>
        <p:spPr>
          <a:xfrm>
            <a:off x="6405880" y="2067561"/>
            <a:ext cx="21348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6 features</a:t>
            </a:r>
            <a:endParaRPr lang="en-US" sz="1200" dirty="0"/>
          </a:p>
        </p:txBody>
      </p:sp>
      <p:sp>
        <p:nvSpPr>
          <p:cNvPr id="14" name="Text 12"/>
          <p:cNvSpPr/>
          <p:nvPr/>
        </p:nvSpPr>
        <p:spPr>
          <a:xfrm>
            <a:off x="6405880" y="2357120"/>
            <a:ext cx="213481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6C"/>
                </a:solidFill>
                <a:latin typeface="IBM Plex Sans" pitchFamily="34" charset="0"/>
                <a:ea typeface="IBM Plex Sans" pitchFamily="34" charset="-122"/>
                <a:cs typeface="IBM Plex Sans" pitchFamily="34" charset="-120"/>
              </a:rPr>
              <a:t>Physical fitness</a:t>
            </a:r>
            <a:endParaRPr lang="en-US" sz="1600" dirty="0"/>
          </a:p>
        </p:txBody>
      </p:sp>
      <p:sp>
        <p:nvSpPr>
          <p:cNvPr id="15" name="Text 13"/>
          <p:cNvSpPr/>
          <p:nvPr/>
        </p:nvSpPr>
        <p:spPr>
          <a:xfrm>
            <a:off x="6405880" y="2717800"/>
            <a:ext cx="213481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Knee strength, hamstring flexibility, reaction time, balance, sprint, agility</a:t>
            </a:r>
            <a:endParaRPr lang="en-US" sz="1200" dirty="0"/>
          </a:p>
        </p:txBody>
      </p:sp>
      <p:sp>
        <p:nvSpPr>
          <p:cNvPr id="16" name="Shape 14"/>
          <p:cNvSpPr/>
          <p:nvPr/>
        </p:nvSpPr>
        <p:spPr>
          <a:xfrm>
            <a:off x="8893175" y="1862455"/>
            <a:ext cx="2482850" cy="1700530"/>
          </a:xfrm>
          <a:prstGeom prst="roundRect">
            <a:avLst>
              <a:gd name="adj" fmla="val 5788"/>
            </a:avLst>
          </a:prstGeom>
          <a:solidFill>
            <a:srgbClr val="FFFDF8"/>
          </a:solidFill>
          <a:ln w="6350">
            <a:solidFill>
              <a:srgbClr val="DDD7C8"/>
            </a:solidFill>
            <a:prstDash val="solid"/>
          </a:ln>
        </p:spPr>
      </p:sp>
      <p:sp>
        <p:nvSpPr>
          <p:cNvPr id="17" name="Text 15"/>
          <p:cNvSpPr/>
          <p:nvPr/>
        </p:nvSpPr>
        <p:spPr>
          <a:xfrm>
            <a:off x="9098280" y="2067561"/>
            <a:ext cx="21348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4 features</a:t>
            </a:r>
            <a:endParaRPr lang="en-US" sz="1200" dirty="0"/>
          </a:p>
        </p:txBody>
      </p:sp>
      <p:sp>
        <p:nvSpPr>
          <p:cNvPr id="18" name="Text 16"/>
          <p:cNvSpPr/>
          <p:nvPr/>
        </p:nvSpPr>
        <p:spPr>
          <a:xfrm>
            <a:off x="9098280" y="2357120"/>
            <a:ext cx="213481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6C"/>
                </a:solidFill>
                <a:latin typeface="IBM Plex Sans" pitchFamily="34" charset="0"/>
                <a:ea typeface="IBM Plex Sans" pitchFamily="34" charset="-122"/>
                <a:cs typeface="IBM Plex Sans" pitchFamily="34" charset="-120"/>
              </a:rPr>
              <a:t>Lifestyle</a:t>
            </a:r>
            <a:endParaRPr lang="en-US" sz="1600" dirty="0"/>
          </a:p>
        </p:txBody>
      </p:sp>
      <p:sp>
        <p:nvSpPr>
          <p:cNvPr id="19" name="Text 17"/>
          <p:cNvSpPr/>
          <p:nvPr/>
        </p:nvSpPr>
        <p:spPr>
          <a:xfrm>
            <a:off x="9098280" y="2717800"/>
            <a:ext cx="21348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Sleep, stress (PSS-10), nutrition, warm-up adherence</a:t>
            </a:r>
            <a:endParaRPr lang="en-US" sz="1200" dirty="0"/>
          </a:p>
        </p:txBody>
      </p:sp>
      <p:sp>
        <p:nvSpPr>
          <p:cNvPr id="20" name="Shape 18"/>
          <p:cNvSpPr/>
          <p:nvPr/>
        </p:nvSpPr>
        <p:spPr>
          <a:xfrm>
            <a:off x="812800" y="3820161"/>
            <a:ext cx="5181600" cy="1366520"/>
          </a:xfrm>
          <a:prstGeom prst="roundRect">
            <a:avLst>
              <a:gd name="adj" fmla="val 7435"/>
            </a:avLst>
          </a:prstGeom>
          <a:solidFill>
            <a:srgbClr val="E9E3D2"/>
          </a:solidFill>
          <a:ln/>
        </p:spPr>
      </p:sp>
      <p:sp>
        <p:nvSpPr>
          <p:cNvPr id="21" name="Text 19"/>
          <p:cNvSpPr/>
          <p:nvPr/>
        </p:nvSpPr>
        <p:spPr>
          <a:xfrm>
            <a:off x="1016000" y="4023361"/>
            <a:ext cx="491845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62B"/>
                </a:solidFill>
                <a:latin typeface="IBM Plex Sans" pitchFamily="34" charset="0"/>
                <a:ea typeface="IBM Plex Sans" pitchFamily="34" charset="-122"/>
                <a:cs typeface="IBM Plex Sans" pitchFamily="34" charset="-120"/>
              </a:rPr>
              <a:t>Preprocessing</a:t>
            </a:r>
            <a:endParaRPr lang="en-US" sz="1600" dirty="0"/>
          </a:p>
        </p:txBody>
      </p:sp>
      <p:sp>
        <p:nvSpPr>
          <p:cNvPr id="22" name="Text 20"/>
          <p:cNvSpPr/>
          <p:nvPr/>
        </p:nvSpPr>
        <p:spPr>
          <a:xfrm>
            <a:off x="1016000" y="4343400"/>
            <a:ext cx="491845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3σ outlier check, z-score scaling, one-hot Position, stratified 70/30 split (560 / 240) with 5-fold cross-validation.</a:t>
            </a:r>
            <a:endParaRPr lang="en-US" sz="1200" dirty="0"/>
          </a:p>
        </p:txBody>
      </p:sp>
      <p:sp>
        <p:nvSpPr>
          <p:cNvPr id="23" name="Shape 21"/>
          <p:cNvSpPr/>
          <p:nvPr/>
        </p:nvSpPr>
        <p:spPr>
          <a:xfrm>
            <a:off x="6197600" y="3820161"/>
            <a:ext cx="5181600" cy="1366520"/>
          </a:xfrm>
          <a:prstGeom prst="roundRect">
            <a:avLst>
              <a:gd name="adj" fmla="val 7435"/>
            </a:avLst>
          </a:prstGeom>
          <a:solidFill>
            <a:srgbClr val="E9E3D2"/>
          </a:solidFill>
          <a:ln/>
        </p:spPr>
      </p:sp>
      <p:sp>
        <p:nvSpPr>
          <p:cNvPr id="24" name="Text 22"/>
          <p:cNvSpPr/>
          <p:nvPr/>
        </p:nvSpPr>
        <p:spPr>
          <a:xfrm>
            <a:off x="6400800" y="4023361"/>
            <a:ext cx="491845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62B"/>
                </a:solidFill>
                <a:latin typeface="IBM Plex Sans" pitchFamily="34" charset="0"/>
                <a:ea typeface="IBM Plex Sans" pitchFamily="34" charset="-122"/>
                <a:cs typeface="IBM Plex Sans" pitchFamily="34" charset="-120"/>
              </a:rPr>
              <a:t>10 algorithms, 7 metrics</a:t>
            </a:r>
            <a:endParaRPr lang="en-US" sz="1600" dirty="0"/>
          </a:p>
        </p:txBody>
      </p:sp>
      <p:sp>
        <p:nvSpPr>
          <p:cNvPr id="25" name="Text 23"/>
          <p:cNvSpPr/>
          <p:nvPr/>
        </p:nvSpPr>
        <p:spPr>
          <a:xfrm>
            <a:off x="6400800" y="4343400"/>
            <a:ext cx="491845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Logistic Regression, SVM (RBF), KNN, Decision Tree, Random Forest, Gradient Boosting, XGBoost, LightGBM, CatBoost, Naive Bayes. Scored on accuracy, precision, recall, F1, ROC-AUC, PR-AUC and Brier.</a:t>
            </a:r>
            <a:endParaRPr lang="en-US" sz="1200" dirty="0"/>
          </a:p>
        </p:txBody>
      </p:sp>
      <p:sp>
        <p:nvSpPr>
          <p:cNvPr id="26" name="Text 24"/>
          <p:cNvSpPr/>
          <p:nvPr/>
        </p:nvSpPr>
        <p:spPr>
          <a:xfrm>
            <a:off x="812800" y="6238239"/>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Reproduction uses a surrogate dataset built from the paper's published statistics</a:t>
            </a:r>
            <a:endParaRPr lang="en-US" sz="1200" dirty="0"/>
          </a:p>
        </p:txBody>
      </p:sp>
      <p:sp>
        <p:nvSpPr>
          <p:cNvPr id="27" name="Text 2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A"/>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62B"/>
                </a:solidFill>
                <a:latin typeface="Source Serif 4" pitchFamily="18" charset="0"/>
                <a:ea typeface="Source Serif 4" pitchFamily="18" charset="-122"/>
                <a:cs typeface="Source Serif 4" pitchFamily="18" charset="-120"/>
              </a:rPr>
              <a:t>SVM leads on accuracy and F1</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39"/>
          <a:ext cx="10556240" cy="3296920"/>
        </p:xfrm>
        <a:graphic>
          <a:graphicData uri="http://schemas.openxmlformats.org/drawingml/2006/table">
            <a:tbl>
              <a:tblPr/>
              <a:tblGrid>
                <a:gridCol w="2562194"/>
                <a:gridCol w="1332341"/>
                <a:gridCol w="1332341"/>
                <a:gridCol w="1332341"/>
                <a:gridCol w="1332341"/>
                <a:gridCol w="1332341"/>
                <a:gridCol w="1332341"/>
              </a:tblGrid>
              <a:tr h="299720">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Accuracy</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Precision</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Recall</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F1</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ROC-AUC</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Brier</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112226"/>
                      </a:solidFill>
                      <a:prstDash val="solid"/>
                      <a:round/>
                      <a:headEnd type="none" w="med" len="med"/>
                      <a:tailEnd type="none" w="med" len="med"/>
                    </a:lnL>
                    <a:lnR w="12700" cap="flat" cmpd="sng" algn="ctr">
                      <a:solidFill>
                        <a:srgbClr val="112226"/>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112226"/>
                      </a:solidFill>
                      <a:prstDash val="solid"/>
                      <a:round/>
                      <a:headEnd type="none" w="med" len="med"/>
                      <a:tailEnd type="none" w="med" len="med"/>
                    </a:lnB>
                    <a:solidFill>
                      <a:srgbClr val="10262B"/>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SVM (RBF)</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0.800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0.825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0.805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0.864</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0.148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AE9C"/>
                      </a:solidFill>
                      <a:prstDash val="solid"/>
                      <a:round/>
                      <a:headEnd type="none" w="med" len="med"/>
                      <a:tailEnd type="none" w="med" len="med"/>
                    </a:lnL>
                    <a:lnR w="12700" cap="flat" cmpd="sng" algn="ctr">
                      <a:solidFill>
                        <a:srgbClr val="C4AE9C"/>
                      </a:solidFill>
                      <a:prstDash val="solid"/>
                      <a:round/>
                      <a:headEnd type="none" w="med" len="med"/>
                      <a:tailEnd type="none" w="med" len="med"/>
                    </a:lnR>
                    <a:lnT w="12700" cap="flat" cmpd="sng" algn="ctr">
                      <a:solidFill>
                        <a:srgbClr val="112226"/>
                      </a:solidFill>
                      <a:prstDash val="solid"/>
                      <a:round/>
                      <a:headEnd type="none" w="med" len="med"/>
                      <a:tailEnd type="none" w="med" len="med"/>
                    </a:lnT>
                    <a:lnB w="12700" cap="flat" cmpd="sng" algn="ctr">
                      <a:solidFill>
                        <a:srgbClr val="C4AE9C"/>
                      </a:solidFill>
                      <a:prstDash val="solid"/>
                      <a:round/>
                      <a:headEnd type="none" w="med" len="med"/>
                      <a:tailEnd type="none" w="med" len="med"/>
                    </a:lnB>
                    <a:solidFill>
                      <a:srgbClr val="F6D9C3"/>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Logistic Regression</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0.796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0.808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0.798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0.866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0.149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AE9C"/>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Naive Bayes</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0.796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0.808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0.798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0.880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0.144</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Random Forest</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0.779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0.777</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0.783</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0.866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0.156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CatBoost</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0.767</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0.771</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0.765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0.851</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LightGBM</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0.842</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0.188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Gradient Boosting</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0.754</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0.752</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0.845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0.165</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XGBoost</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0.746</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0.740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0.749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0.842</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0.189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Decision Tree</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0.733</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0.780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0.650</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0.709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0.709</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0.233</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BFBBB0"/>
                      </a:solidFill>
                      <a:prstDash val="solid"/>
                      <a:round/>
                      <a:headEnd type="none" w="med" len="med"/>
                      <a:tailEnd type="none" w="med" len="med"/>
                    </a:lnL>
                    <a:lnR w="12700" cap="flat" cmpd="sng" algn="ctr">
                      <a:solidFill>
                        <a:srgbClr val="BFBB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B0"/>
                      </a:solidFill>
                      <a:prstDash val="solid"/>
                      <a:round/>
                      <a:headEnd type="none" w="med" len="med"/>
                      <a:tailEnd type="none" w="med" len="med"/>
                    </a:lnB>
                    <a:solidFill>
                      <a:srgbClr val="EFEADC"/>
                    </a:solidFill>
                  </a:tcPr>
                </a:tc>
              </a:tr>
              <a:tr h="299720">
                <a:tc>
                  <a:txBody>
                    <a:bodyPr/>
                    <a:lstStyle/>
                    <a:p>
                      <a:pP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KNN</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4C2BB"/>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0.671</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0.753</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0.508</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0.607</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0.767</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0.204</a:t>
                      </a:r>
                      <a:endParaRPr lang="en-US" sz="1200" dirty="0">
                        <a:latin typeface="IBM Plex Sans" charset="0"/>
                        <a:ea typeface="IBM Plex Sans" charset="0"/>
                        <a:cs typeface="IBM Plex Sans" charset="0"/>
                      </a:endParaRPr>
                    </a:p>
                  </a:txBody>
                  <a:tcPr marL="88900" marR="88900" marT="38100" marB="381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BB0"/>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Held-out test set of 240 players · SVM highlighted</a:t>
            </a:r>
            <a:endParaRPr lang="en-US" sz="1200" dirty="0"/>
          </a:p>
        </p:txBody>
      </p:sp>
      <p:sp>
        <p:nvSpPr>
          <p:cNvPr id="6" name="Text 3"/>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5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092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B8501A"/>
                </a:solidFill>
                <a:latin typeface="IBM Plex Sans" pitchFamily="34" charset="0"/>
                <a:ea typeface="IBM Plex Sans" pitchFamily="34" charset="-122"/>
                <a:cs typeface="IBM Plex Sans" pitchFamily="34" charset="-120"/>
              </a:rPr>
              <a:t>RESULTS</a:t>
            </a:r>
            <a:endParaRPr lang="en-US" sz="1159" dirty="0"/>
          </a:p>
        </p:txBody>
      </p:sp>
      <p:sp>
        <p:nvSpPr>
          <p:cNvPr id="3" name="Text 1"/>
          <p:cNvSpPr/>
          <p:nvPr>
            <p:ph type="title"/>
          </p:nvPr>
        </p:nvSpPr>
        <p:spPr>
          <a:xfrm>
            <a:off x="812800" y="1094529"/>
            <a:ext cx="10883392" cy="510011"/>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10262B"/>
                </a:solidFill>
                <a:latin typeface="Source Serif 4" pitchFamily="18" charset="0"/>
                <a:ea typeface="Source Serif 4" pitchFamily="18" charset="-122"/>
                <a:cs typeface="Source Serif 4" pitchFamily="18" charset="-120"/>
              </a:rPr>
              <a:t>SHAP confirms the paper; AUC does not</a:t>
            </a:r>
            <a:endParaRPr lang="en-US" sz="3476" dirty="0"/>
          </a:p>
        </p:txBody>
      </p:sp>
      <p:sp>
        <p:nvSpPr>
          <p:cNvPr id="4" name="Shape 2"/>
          <p:cNvSpPr/>
          <p:nvPr/>
        </p:nvSpPr>
        <p:spPr>
          <a:xfrm>
            <a:off x="815975" y="1785513"/>
            <a:ext cx="6378152" cy="3575050"/>
          </a:xfrm>
          <a:prstGeom prst="roundRect">
            <a:avLst>
              <a:gd name="adj" fmla="val 2753"/>
            </a:avLst>
          </a:prstGeom>
          <a:solidFill>
            <a:srgbClr val="FFFDF8"/>
          </a:solidFill>
          <a:ln w="6350">
            <a:solidFill>
              <a:srgbClr val="DDD7C8"/>
            </a:solidFill>
            <a:prstDash val="solid"/>
          </a:ln>
        </p:spPr>
      </p:sp>
      <p:sp>
        <p:nvSpPr>
          <p:cNvPr id="5" name="Text 3"/>
          <p:cNvSpPr/>
          <p:nvPr/>
        </p:nvSpPr>
        <p:spPr>
          <a:xfrm>
            <a:off x="1021080" y="1990620"/>
            <a:ext cx="6146980" cy="256752"/>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0262B"/>
                </a:solidFill>
                <a:latin typeface="IBM Plex Sans" pitchFamily="34" charset="0"/>
                <a:ea typeface="IBM Plex Sans" pitchFamily="34" charset="-122"/>
                <a:cs typeface="IBM Plex Sans" pitchFamily="34" charset="-120"/>
              </a:rPr>
              <a:t>Top 5 features by mean |SHAP|</a:t>
            </a:r>
            <a:endParaRPr lang="en-US" sz="1520" dirty="0"/>
          </a:p>
        </p:txBody>
      </p:sp>
      <p:sp>
        <p:nvSpPr>
          <p:cNvPr id="6" name="Shape 4"/>
          <p:cNvSpPr/>
          <p:nvPr/>
        </p:nvSpPr>
        <p:spPr>
          <a:xfrm>
            <a:off x="1021080" y="2806487"/>
            <a:ext cx="5967942" cy="0"/>
          </a:xfrm>
          <a:prstGeom prst="line">
            <a:avLst/>
          </a:prstGeom>
          <a:noFill/>
          <a:ln w="6350">
            <a:solidFill>
              <a:srgbClr val="DDD7C8"/>
            </a:solidFill>
            <a:prstDash val="solid"/>
          </a:ln>
        </p:spPr>
      </p:sp>
      <p:sp>
        <p:nvSpPr>
          <p:cNvPr id="7" name="Text 5"/>
          <p:cNvSpPr/>
          <p:nvPr/>
        </p:nvSpPr>
        <p:spPr>
          <a:xfrm>
            <a:off x="1021080" y="2431945"/>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1</a:t>
            </a:r>
            <a:endParaRPr lang="en-US" sz="1200" dirty="0"/>
          </a:p>
        </p:txBody>
      </p:sp>
      <p:sp>
        <p:nvSpPr>
          <p:cNvPr id="8" name="Text 6"/>
          <p:cNvSpPr/>
          <p:nvPr/>
        </p:nvSpPr>
        <p:spPr>
          <a:xfrm>
            <a:off x="1376680" y="2431945"/>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Stress Level</a:t>
            </a:r>
            <a:endParaRPr lang="en-US" sz="1200" dirty="0"/>
          </a:p>
        </p:txBody>
      </p:sp>
      <p:sp>
        <p:nvSpPr>
          <p:cNvPr id="9" name="Shape 7"/>
          <p:cNvSpPr/>
          <p:nvPr/>
        </p:nvSpPr>
        <p:spPr>
          <a:xfrm>
            <a:off x="2875280" y="2462423"/>
            <a:ext cx="2159000" cy="152400"/>
          </a:xfrm>
          <a:prstGeom prst="roundRect">
            <a:avLst>
              <a:gd name="adj" fmla="val 25000"/>
            </a:avLst>
          </a:prstGeom>
          <a:solidFill>
            <a:srgbClr val="B8501A"/>
          </a:solidFill>
          <a:ln/>
        </p:spPr>
      </p:sp>
      <p:sp>
        <p:nvSpPr>
          <p:cNvPr id="10" name="Text 8"/>
          <p:cNvSpPr/>
          <p:nvPr/>
        </p:nvSpPr>
        <p:spPr>
          <a:xfrm>
            <a:off x="5135880" y="2431945"/>
            <a:ext cx="495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0.111</a:t>
            </a:r>
            <a:endParaRPr lang="en-US" sz="1200" dirty="0"/>
          </a:p>
        </p:txBody>
      </p:sp>
      <p:sp>
        <p:nvSpPr>
          <p:cNvPr id="11" name="Text 9"/>
          <p:cNvSpPr/>
          <p:nvPr/>
        </p:nvSpPr>
        <p:spPr>
          <a:xfrm>
            <a:off x="5681980" y="2325371"/>
            <a:ext cx="622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paper 1st</a:t>
            </a:r>
            <a:endParaRPr lang="en-US" sz="1200" dirty="0"/>
          </a:p>
        </p:txBody>
      </p:sp>
      <p:sp>
        <p:nvSpPr>
          <p:cNvPr id="12" name="Shape 10"/>
          <p:cNvSpPr/>
          <p:nvPr/>
        </p:nvSpPr>
        <p:spPr>
          <a:xfrm>
            <a:off x="1021080" y="3394288"/>
            <a:ext cx="5967942" cy="0"/>
          </a:xfrm>
          <a:prstGeom prst="line">
            <a:avLst/>
          </a:prstGeom>
          <a:noFill/>
          <a:ln w="6350">
            <a:solidFill>
              <a:srgbClr val="DDD7C8"/>
            </a:solidFill>
            <a:prstDash val="solid"/>
          </a:ln>
        </p:spPr>
      </p:sp>
      <p:sp>
        <p:nvSpPr>
          <p:cNvPr id="13" name="Text 11"/>
          <p:cNvSpPr/>
          <p:nvPr/>
        </p:nvSpPr>
        <p:spPr>
          <a:xfrm>
            <a:off x="1021080" y="3019741"/>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2</a:t>
            </a:r>
            <a:endParaRPr lang="en-US" sz="1200" dirty="0"/>
          </a:p>
        </p:txBody>
      </p:sp>
      <p:sp>
        <p:nvSpPr>
          <p:cNvPr id="14" name="Text 12"/>
          <p:cNvSpPr/>
          <p:nvPr/>
        </p:nvSpPr>
        <p:spPr>
          <a:xfrm>
            <a:off x="1376680" y="3019741"/>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Sleep Hours</a:t>
            </a:r>
            <a:endParaRPr lang="en-US" sz="1200" dirty="0"/>
          </a:p>
        </p:txBody>
      </p:sp>
      <p:sp>
        <p:nvSpPr>
          <p:cNvPr id="15" name="Shape 13"/>
          <p:cNvSpPr/>
          <p:nvPr/>
        </p:nvSpPr>
        <p:spPr>
          <a:xfrm>
            <a:off x="2875280" y="3050223"/>
            <a:ext cx="1771650" cy="152400"/>
          </a:xfrm>
          <a:prstGeom prst="roundRect">
            <a:avLst>
              <a:gd name="adj" fmla="val 25000"/>
            </a:avLst>
          </a:prstGeom>
          <a:solidFill>
            <a:srgbClr val="B8501A"/>
          </a:solidFill>
          <a:ln/>
        </p:spPr>
      </p:sp>
      <p:sp>
        <p:nvSpPr>
          <p:cNvPr id="16" name="Text 14"/>
          <p:cNvSpPr/>
          <p:nvPr/>
        </p:nvSpPr>
        <p:spPr>
          <a:xfrm>
            <a:off x="4748530" y="3019741"/>
            <a:ext cx="495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0.091</a:t>
            </a:r>
            <a:endParaRPr lang="en-US" sz="1200" dirty="0"/>
          </a:p>
        </p:txBody>
      </p:sp>
      <p:sp>
        <p:nvSpPr>
          <p:cNvPr id="17" name="Text 15"/>
          <p:cNvSpPr/>
          <p:nvPr/>
        </p:nvSpPr>
        <p:spPr>
          <a:xfrm>
            <a:off x="5681980" y="2913063"/>
            <a:ext cx="622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paper 2nd</a:t>
            </a:r>
            <a:endParaRPr lang="en-US" sz="1200" dirty="0"/>
          </a:p>
        </p:txBody>
      </p:sp>
      <p:sp>
        <p:nvSpPr>
          <p:cNvPr id="18" name="Shape 16"/>
          <p:cNvSpPr/>
          <p:nvPr/>
        </p:nvSpPr>
        <p:spPr>
          <a:xfrm>
            <a:off x="1021080" y="3981978"/>
            <a:ext cx="5967942" cy="0"/>
          </a:xfrm>
          <a:prstGeom prst="line">
            <a:avLst/>
          </a:prstGeom>
          <a:noFill/>
          <a:ln w="6350">
            <a:solidFill>
              <a:srgbClr val="DDD7C8"/>
            </a:solidFill>
            <a:prstDash val="solid"/>
          </a:ln>
        </p:spPr>
      </p:sp>
      <p:sp>
        <p:nvSpPr>
          <p:cNvPr id="19" name="Text 17"/>
          <p:cNvSpPr/>
          <p:nvPr/>
        </p:nvSpPr>
        <p:spPr>
          <a:xfrm>
            <a:off x="1021080" y="3607436"/>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3</a:t>
            </a:r>
            <a:endParaRPr lang="en-US" sz="1200" dirty="0"/>
          </a:p>
        </p:txBody>
      </p:sp>
      <p:sp>
        <p:nvSpPr>
          <p:cNvPr id="20" name="Text 18"/>
          <p:cNvSpPr/>
          <p:nvPr/>
        </p:nvSpPr>
        <p:spPr>
          <a:xfrm>
            <a:off x="1376680" y="3607436"/>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Balance Test</a:t>
            </a:r>
            <a:endParaRPr lang="en-US" sz="1200" dirty="0"/>
          </a:p>
        </p:txBody>
      </p:sp>
      <p:sp>
        <p:nvSpPr>
          <p:cNvPr id="21" name="Shape 19"/>
          <p:cNvSpPr/>
          <p:nvPr/>
        </p:nvSpPr>
        <p:spPr>
          <a:xfrm>
            <a:off x="2875280" y="3637914"/>
            <a:ext cx="1263650" cy="152400"/>
          </a:xfrm>
          <a:prstGeom prst="roundRect">
            <a:avLst>
              <a:gd name="adj" fmla="val 25000"/>
            </a:avLst>
          </a:prstGeom>
          <a:solidFill>
            <a:srgbClr val="B8501A"/>
          </a:solidFill>
          <a:ln/>
        </p:spPr>
      </p:sp>
      <p:sp>
        <p:nvSpPr>
          <p:cNvPr id="22" name="Text 20"/>
          <p:cNvSpPr/>
          <p:nvPr/>
        </p:nvSpPr>
        <p:spPr>
          <a:xfrm>
            <a:off x="4240530" y="3607436"/>
            <a:ext cx="495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0.065</a:t>
            </a:r>
            <a:endParaRPr lang="en-US" sz="1200" dirty="0"/>
          </a:p>
        </p:txBody>
      </p:sp>
      <p:sp>
        <p:nvSpPr>
          <p:cNvPr id="23" name="Text 21"/>
          <p:cNvSpPr/>
          <p:nvPr/>
        </p:nvSpPr>
        <p:spPr>
          <a:xfrm>
            <a:off x="5681980" y="3500862"/>
            <a:ext cx="622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paper 3rd</a:t>
            </a:r>
            <a:endParaRPr lang="en-US" sz="1200" dirty="0"/>
          </a:p>
        </p:txBody>
      </p:sp>
      <p:sp>
        <p:nvSpPr>
          <p:cNvPr id="24" name="Shape 22"/>
          <p:cNvSpPr/>
          <p:nvPr/>
        </p:nvSpPr>
        <p:spPr>
          <a:xfrm>
            <a:off x="1021080" y="4569673"/>
            <a:ext cx="5967942" cy="0"/>
          </a:xfrm>
          <a:prstGeom prst="line">
            <a:avLst/>
          </a:prstGeom>
          <a:noFill/>
          <a:ln w="6350">
            <a:solidFill>
              <a:srgbClr val="DDD7C8"/>
            </a:solidFill>
            <a:prstDash val="solid"/>
          </a:ln>
        </p:spPr>
      </p:sp>
      <p:sp>
        <p:nvSpPr>
          <p:cNvPr id="25" name="Text 23"/>
          <p:cNvSpPr/>
          <p:nvPr/>
        </p:nvSpPr>
        <p:spPr>
          <a:xfrm>
            <a:off x="1021080" y="4195127"/>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46A"/>
                </a:solidFill>
                <a:latin typeface="IBM Plex Sans" pitchFamily="34" charset="0"/>
                <a:ea typeface="IBM Plex Sans" pitchFamily="34" charset="-122"/>
                <a:cs typeface="IBM Plex Sans" pitchFamily="34" charset="-120"/>
              </a:rPr>
              <a:t>4</a:t>
            </a:r>
            <a:endParaRPr lang="en-US" sz="1200" dirty="0"/>
          </a:p>
        </p:txBody>
      </p:sp>
      <p:sp>
        <p:nvSpPr>
          <p:cNvPr id="26" name="Text 24"/>
          <p:cNvSpPr/>
          <p:nvPr/>
        </p:nvSpPr>
        <p:spPr>
          <a:xfrm>
            <a:off x="1376680" y="4195127"/>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Reaction Time</a:t>
            </a:r>
            <a:endParaRPr lang="en-US" sz="1200" dirty="0"/>
          </a:p>
        </p:txBody>
      </p:sp>
      <p:sp>
        <p:nvSpPr>
          <p:cNvPr id="27" name="Shape 25"/>
          <p:cNvSpPr/>
          <p:nvPr/>
        </p:nvSpPr>
        <p:spPr>
          <a:xfrm>
            <a:off x="2875280" y="4225609"/>
            <a:ext cx="679450" cy="152400"/>
          </a:xfrm>
          <a:prstGeom prst="roundRect">
            <a:avLst>
              <a:gd name="adj" fmla="val 25000"/>
            </a:avLst>
          </a:prstGeom>
          <a:solidFill>
            <a:srgbClr val="1F6B6C"/>
          </a:solidFill>
          <a:ln/>
        </p:spPr>
      </p:sp>
      <p:sp>
        <p:nvSpPr>
          <p:cNvPr id="28" name="Text 26"/>
          <p:cNvSpPr/>
          <p:nvPr/>
        </p:nvSpPr>
        <p:spPr>
          <a:xfrm>
            <a:off x="3656330" y="4195127"/>
            <a:ext cx="495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0.035</a:t>
            </a:r>
            <a:endParaRPr lang="en-US" sz="1200" dirty="0"/>
          </a:p>
        </p:txBody>
      </p:sp>
      <p:sp>
        <p:nvSpPr>
          <p:cNvPr id="29" name="Text 27"/>
          <p:cNvSpPr/>
          <p:nvPr/>
        </p:nvSpPr>
        <p:spPr>
          <a:xfrm>
            <a:off x="5681980" y="4088554"/>
            <a:ext cx="622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paper 5th</a:t>
            </a:r>
            <a:endParaRPr lang="en-US" sz="1200" dirty="0"/>
          </a:p>
        </p:txBody>
      </p:sp>
      <p:sp>
        <p:nvSpPr>
          <p:cNvPr id="30" name="Text 28"/>
          <p:cNvSpPr/>
          <p:nvPr/>
        </p:nvSpPr>
        <p:spPr>
          <a:xfrm>
            <a:off x="1021080" y="4782821"/>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46A"/>
                </a:solidFill>
                <a:latin typeface="IBM Plex Sans" pitchFamily="34" charset="0"/>
                <a:ea typeface="IBM Plex Sans" pitchFamily="34" charset="-122"/>
                <a:cs typeface="IBM Plex Sans" pitchFamily="34" charset="-120"/>
              </a:rPr>
              <a:t>5</a:t>
            </a:r>
            <a:endParaRPr lang="en-US" sz="1200" dirty="0"/>
          </a:p>
        </p:txBody>
      </p:sp>
      <p:sp>
        <p:nvSpPr>
          <p:cNvPr id="31" name="Text 29"/>
          <p:cNvSpPr/>
          <p:nvPr/>
        </p:nvSpPr>
        <p:spPr>
          <a:xfrm>
            <a:off x="1376680" y="4782821"/>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Knee Strength</a:t>
            </a:r>
            <a:endParaRPr lang="en-US" sz="1200" dirty="0"/>
          </a:p>
        </p:txBody>
      </p:sp>
      <p:sp>
        <p:nvSpPr>
          <p:cNvPr id="32" name="Shape 30"/>
          <p:cNvSpPr/>
          <p:nvPr/>
        </p:nvSpPr>
        <p:spPr>
          <a:xfrm>
            <a:off x="2875280" y="4813300"/>
            <a:ext cx="679450" cy="152400"/>
          </a:xfrm>
          <a:prstGeom prst="roundRect">
            <a:avLst>
              <a:gd name="adj" fmla="val 25000"/>
            </a:avLst>
          </a:prstGeom>
          <a:solidFill>
            <a:srgbClr val="1F6B6C"/>
          </a:solidFill>
          <a:ln/>
        </p:spPr>
      </p:sp>
      <p:sp>
        <p:nvSpPr>
          <p:cNvPr id="33" name="Text 31"/>
          <p:cNvSpPr/>
          <p:nvPr/>
        </p:nvSpPr>
        <p:spPr>
          <a:xfrm>
            <a:off x="3656330" y="4782821"/>
            <a:ext cx="495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0.035</a:t>
            </a:r>
            <a:endParaRPr lang="en-US" sz="1200" dirty="0"/>
          </a:p>
        </p:txBody>
      </p:sp>
      <p:sp>
        <p:nvSpPr>
          <p:cNvPr id="34" name="Text 32"/>
          <p:cNvSpPr/>
          <p:nvPr/>
        </p:nvSpPr>
        <p:spPr>
          <a:xfrm>
            <a:off x="5681980" y="4676245"/>
            <a:ext cx="622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paper 6th</a:t>
            </a:r>
            <a:endParaRPr lang="en-US" sz="1200" dirty="0"/>
          </a:p>
        </p:txBody>
      </p:sp>
      <p:sp>
        <p:nvSpPr>
          <p:cNvPr id="35" name="Shape 33"/>
          <p:cNvSpPr/>
          <p:nvPr/>
        </p:nvSpPr>
        <p:spPr>
          <a:xfrm>
            <a:off x="7400502" y="1782338"/>
            <a:ext cx="3978698" cy="1689100"/>
          </a:xfrm>
          <a:prstGeom prst="roundRect">
            <a:avLst>
              <a:gd name="adj" fmla="val 6015"/>
            </a:avLst>
          </a:prstGeom>
          <a:solidFill>
            <a:srgbClr val="10262B"/>
          </a:solidFill>
          <a:ln/>
        </p:spPr>
      </p:sp>
      <p:sp>
        <p:nvSpPr>
          <p:cNvPr id="36" name="Text 34"/>
          <p:cNvSpPr/>
          <p:nvPr/>
        </p:nvSpPr>
        <p:spPr>
          <a:xfrm>
            <a:off x="7603702" y="1934738"/>
            <a:ext cx="36794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8A5"/>
                </a:solidFill>
                <a:latin typeface="IBM Plex Sans" pitchFamily="34" charset="0"/>
                <a:ea typeface="IBM Plex Sans" pitchFamily="34" charset="-122"/>
                <a:cs typeface="IBM Plex Sans" pitchFamily="34" charset="-120"/>
              </a:rPr>
              <a:t>ROC-AUC</a:t>
            </a:r>
            <a:endParaRPr lang="en-US" sz="1200" dirty="0"/>
          </a:p>
        </p:txBody>
      </p:sp>
      <p:sp>
        <p:nvSpPr>
          <p:cNvPr id="37" name="Text 35"/>
          <p:cNvSpPr/>
          <p:nvPr/>
        </p:nvSpPr>
        <p:spPr>
          <a:xfrm>
            <a:off x="7603702" y="2211598"/>
            <a:ext cx="7354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9C9C6"/>
                </a:solidFill>
                <a:latin typeface="Source Serif 4" pitchFamily="18" charset="0"/>
                <a:ea typeface="Source Serif 4" pitchFamily="18" charset="-122"/>
                <a:cs typeface="Source Serif 4" pitchFamily="18" charset="-120"/>
              </a:rPr>
              <a:t>0.992</a:t>
            </a:r>
            <a:endParaRPr lang="en-US" sz="2000" dirty="0"/>
          </a:p>
        </p:txBody>
      </p:sp>
      <p:sp>
        <p:nvSpPr>
          <p:cNvPr id="38" name="Text 36"/>
          <p:cNvSpPr/>
          <p:nvPr/>
        </p:nvSpPr>
        <p:spPr>
          <a:xfrm>
            <a:off x="8339137" y="2313198"/>
            <a:ext cx="4772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paper</a:t>
            </a:r>
            <a:endParaRPr lang="en-US" sz="1200" dirty="0"/>
          </a:p>
        </p:txBody>
      </p:sp>
      <p:sp>
        <p:nvSpPr>
          <p:cNvPr id="39" name="Text 37"/>
          <p:cNvSpPr/>
          <p:nvPr/>
        </p:nvSpPr>
        <p:spPr>
          <a:xfrm>
            <a:off x="7603702" y="2630698"/>
            <a:ext cx="7354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8A45"/>
                </a:solidFill>
                <a:latin typeface="Source Serif 4" pitchFamily="18" charset="0"/>
                <a:ea typeface="Source Serif 4" pitchFamily="18" charset="-122"/>
                <a:cs typeface="Source Serif 4" pitchFamily="18" charset="-120"/>
              </a:rPr>
              <a:t>0.864</a:t>
            </a:r>
            <a:endParaRPr lang="en-US" sz="2000" dirty="0"/>
          </a:p>
        </p:txBody>
      </p:sp>
      <p:sp>
        <p:nvSpPr>
          <p:cNvPr id="40" name="Text 38"/>
          <p:cNvSpPr/>
          <p:nvPr/>
        </p:nvSpPr>
        <p:spPr>
          <a:xfrm>
            <a:off x="8339137" y="2732298"/>
            <a:ext cx="10591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reproduction</a:t>
            </a:r>
            <a:endParaRPr lang="en-US" sz="1200" dirty="0"/>
          </a:p>
        </p:txBody>
      </p:sp>
      <p:sp>
        <p:nvSpPr>
          <p:cNvPr id="41" name="Shape 39"/>
          <p:cNvSpPr/>
          <p:nvPr/>
        </p:nvSpPr>
        <p:spPr>
          <a:xfrm>
            <a:off x="7400502" y="3674638"/>
            <a:ext cx="3978698" cy="1689100"/>
          </a:xfrm>
          <a:prstGeom prst="roundRect">
            <a:avLst>
              <a:gd name="adj" fmla="val 6015"/>
            </a:avLst>
          </a:prstGeom>
          <a:solidFill>
            <a:srgbClr val="10262B"/>
          </a:solidFill>
          <a:ln/>
        </p:spPr>
      </p:sp>
      <p:sp>
        <p:nvSpPr>
          <p:cNvPr id="42" name="Text 40"/>
          <p:cNvSpPr/>
          <p:nvPr/>
        </p:nvSpPr>
        <p:spPr>
          <a:xfrm>
            <a:off x="7603702" y="3827038"/>
            <a:ext cx="36794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A8A5"/>
                </a:solidFill>
                <a:latin typeface="IBM Plex Sans" pitchFamily="34" charset="0"/>
                <a:ea typeface="IBM Plex Sans" pitchFamily="34" charset="-122"/>
                <a:cs typeface="IBM Plex Sans" pitchFamily="34" charset="-120"/>
              </a:rPr>
              <a:t>ACCURACY</a:t>
            </a:r>
            <a:endParaRPr lang="en-US" sz="1200" dirty="0"/>
          </a:p>
        </p:txBody>
      </p:sp>
      <p:sp>
        <p:nvSpPr>
          <p:cNvPr id="43" name="Text 41"/>
          <p:cNvSpPr/>
          <p:nvPr/>
        </p:nvSpPr>
        <p:spPr>
          <a:xfrm>
            <a:off x="7603702" y="4103898"/>
            <a:ext cx="7354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9C9C6"/>
                </a:solidFill>
                <a:latin typeface="Source Serif 4" pitchFamily="18" charset="0"/>
                <a:ea typeface="Source Serif 4" pitchFamily="18" charset="-122"/>
                <a:cs typeface="Source Serif 4" pitchFamily="18" charset="-120"/>
              </a:rPr>
              <a:t>0.956</a:t>
            </a:r>
            <a:endParaRPr lang="en-US" sz="2000" dirty="0"/>
          </a:p>
        </p:txBody>
      </p:sp>
      <p:sp>
        <p:nvSpPr>
          <p:cNvPr id="44" name="Text 42"/>
          <p:cNvSpPr/>
          <p:nvPr/>
        </p:nvSpPr>
        <p:spPr>
          <a:xfrm>
            <a:off x="8339137" y="4205498"/>
            <a:ext cx="4772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paper</a:t>
            </a:r>
            <a:endParaRPr lang="en-US" sz="1200" dirty="0"/>
          </a:p>
        </p:txBody>
      </p:sp>
      <p:sp>
        <p:nvSpPr>
          <p:cNvPr id="45" name="Text 43"/>
          <p:cNvSpPr/>
          <p:nvPr/>
        </p:nvSpPr>
        <p:spPr>
          <a:xfrm>
            <a:off x="7603702" y="4522998"/>
            <a:ext cx="7354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8A45"/>
                </a:solidFill>
                <a:latin typeface="Source Serif 4" pitchFamily="18" charset="0"/>
                <a:ea typeface="Source Serif 4" pitchFamily="18" charset="-122"/>
                <a:cs typeface="Source Serif 4" pitchFamily="18" charset="-120"/>
              </a:rPr>
              <a:t>0.800</a:t>
            </a:r>
            <a:endParaRPr lang="en-US" sz="2000" dirty="0"/>
          </a:p>
        </p:txBody>
      </p:sp>
      <p:sp>
        <p:nvSpPr>
          <p:cNvPr id="46" name="Text 44"/>
          <p:cNvSpPr/>
          <p:nvPr/>
        </p:nvSpPr>
        <p:spPr>
          <a:xfrm>
            <a:off x="8339137" y="4624598"/>
            <a:ext cx="10591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IBM Plex Sans" pitchFamily="34" charset="0"/>
                <a:ea typeface="IBM Plex Sans" pitchFamily="34" charset="-122"/>
                <a:cs typeface="IBM Plex Sans" pitchFamily="34" charset="-120"/>
              </a:rPr>
              <a:t>reproduction</a:t>
            </a:r>
            <a:endParaRPr lang="en-US" sz="1200" dirty="0"/>
          </a:p>
        </p:txBody>
      </p:sp>
      <p:sp>
        <p:nvSpPr>
          <p:cNvPr id="47" name="Text 45"/>
          <p:cNvSpPr/>
          <p:nvPr/>
        </p:nvSpPr>
        <p:spPr>
          <a:xfrm>
            <a:off x="812800" y="5566938"/>
            <a:ext cx="10883392" cy="300461"/>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1B2A2E"/>
                </a:solidFill>
                <a:latin typeface="IBM Plex Sans" pitchFamily="34" charset="0"/>
                <a:ea typeface="IBM Plex Sans" pitchFamily="34" charset="-122"/>
                <a:cs typeface="IBM Plex Sans" pitchFamily="34" charset="-120"/>
              </a:rPr>
              <a:t>The top-3 order is identical (Stress, Sleep, Balance). The 13-point AUC gap points to inflated reported performance.</a:t>
            </a:r>
            <a:endParaRPr lang="en-US" sz="1550" dirty="0"/>
          </a:p>
        </p:txBody>
      </p:sp>
      <p:sp>
        <p:nvSpPr>
          <p:cNvPr id="48" name="Text 46"/>
          <p:cNvSpPr/>
          <p:nvPr/>
        </p:nvSpPr>
        <p:spPr>
          <a:xfrm>
            <a:off x="812800" y="6238239"/>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KernelSHAP on the SVM · top three highlighted</a:t>
            </a:r>
            <a:endParaRPr lang="en-US" sz="1200" dirty="0"/>
          </a:p>
        </p:txBody>
      </p:sp>
      <p:sp>
        <p:nvSpPr>
          <p:cNvPr id="49" name="Text 4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A"/>
                </a:solidFill>
                <a:latin typeface="IBM Plex Sans" pitchFamily="34" charset="0"/>
                <a:ea typeface="IBM Plex Sans" pitchFamily="34" charset="-122"/>
                <a:cs typeface="IBM Plex Sans" pitchFamily="34" charset="-120"/>
              </a:rPr>
              <a:t>CRITICAL ANALYSIS</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62B"/>
                </a:solidFill>
                <a:latin typeface="Source Serif 4" pitchFamily="18" charset="0"/>
                <a:ea typeface="Source Serif 4" pitchFamily="18" charset="-122"/>
                <a:cs typeface="Source Serif 4" pitchFamily="18" charset="-120"/>
              </a:rPr>
              <a:t>Critique: is 0.99 AUC plausible?</a:t>
            </a:r>
            <a:endParaRPr lang="en-US" sz="3600" dirty="0"/>
          </a:p>
        </p:txBody>
      </p:sp>
      <p:sp>
        <p:nvSpPr>
          <p:cNvPr id="4" name="Shape 2"/>
          <p:cNvSpPr/>
          <p:nvPr/>
        </p:nvSpPr>
        <p:spPr>
          <a:xfrm>
            <a:off x="815975" y="1862454"/>
            <a:ext cx="5175250" cy="2584450"/>
          </a:xfrm>
          <a:prstGeom prst="roundRect">
            <a:avLst>
              <a:gd name="adj" fmla="val 3808"/>
            </a:avLst>
          </a:prstGeom>
          <a:solidFill>
            <a:srgbClr val="FFFDF8"/>
          </a:solidFill>
          <a:ln w="6350">
            <a:solidFill>
              <a:srgbClr val="DDD7C8"/>
            </a:solidFill>
            <a:prstDash val="solid"/>
          </a:ln>
        </p:spPr>
      </p:sp>
      <p:sp>
        <p:nvSpPr>
          <p:cNvPr id="5" name="Text 3"/>
          <p:cNvSpPr/>
          <p:nvPr/>
        </p:nvSpPr>
        <p:spPr>
          <a:xfrm>
            <a:off x="1021080" y="2067561"/>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62B"/>
                </a:solidFill>
                <a:latin typeface="IBM Plex Sans" pitchFamily="34" charset="0"/>
                <a:ea typeface="IBM Plex Sans" pitchFamily="34" charset="-122"/>
                <a:cs typeface="IBM Plex Sans" pitchFamily="34" charset="-120"/>
              </a:rPr>
              <a:t>ROC-AUC by study</a:t>
            </a:r>
            <a:endParaRPr lang="en-US" sz="1600" dirty="0"/>
          </a:p>
        </p:txBody>
      </p:sp>
      <p:sp>
        <p:nvSpPr>
          <p:cNvPr id="6" name="Text 4"/>
          <p:cNvSpPr/>
          <p:nvPr/>
        </p:nvSpPr>
        <p:spPr>
          <a:xfrm>
            <a:off x="1021080" y="244856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López-Valenciano 2018</a:t>
            </a:r>
            <a:endParaRPr lang="en-US" sz="1200" dirty="0"/>
          </a:p>
        </p:txBody>
      </p:sp>
      <p:sp>
        <p:nvSpPr>
          <p:cNvPr id="7" name="Shape 5"/>
          <p:cNvSpPr/>
          <p:nvPr/>
        </p:nvSpPr>
        <p:spPr>
          <a:xfrm>
            <a:off x="3027680" y="2453639"/>
            <a:ext cx="1593850" cy="203200"/>
          </a:xfrm>
          <a:prstGeom prst="roundRect">
            <a:avLst>
              <a:gd name="adj" fmla="val 18750"/>
            </a:avLst>
          </a:prstGeom>
          <a:solidFill>
            <a:srgbClr val="5F7378"/>
          </a:solidFill>
          <a:ln/>
        </p:spPr>
      </p:sp>
      <p:sp>
        <p:nvSpPr>
          <p:cNvPr id="8" name="Text 6"/>
          <p:cNvSpPr/>
          <p:nvPr/>
        </p:nvSpPr>
        <p:spPr>
          <a:xfrm>
            <a:off x="4723130" y="2413000"/>
            <a:ext cx="495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2E"/>
                </a:solidFill>
                <a:latin typeface="Source Serif 4" pitchFamily="18" charset="0"/>
                <a:ea typeface="Source Serif 4" pitchFamily="18" charset="-122"/>
                <a:cs typeface="Source Serif 4" pitchFamily="18" charset="-120"/>
              </a:rPr>
              <a:t>0.76</a:t>
            </a:r>
            <a:endParaRPr lang="en-US" sz="1600" dirty="0"/>
          </a:p>
        </p:txBody>
      </p:sp>
      <p:sp>
        <p:nvSpPr>
          <p:cNvPr id="9" name="Text 7"/>
          <p:cNvSpPr/>
          <p:nvPr/>
        </p:nvSpPr>
        <p:spPr>
          <a:xfrm>
            <a:off x="1021080" y="283463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Oliver 2020</a:t>
            </a:r>
            <a:endParaRPr lang="en-US" sz="1200" dirty="0"/>
          </a:p>
        </p:txBody>
      </p:sp>
      <p:sp>
        <p:nvSpPr>
          <p:cNvPr id="10" name="Shape 8"/>
          <p:cNvSpPr/>
          <p:nvPr/>
        </p:nvSpPr>
        <p:spPr>
          <a:xfrm>
            <a:off x="3027680" y="2839721"/>
            <a:ext cx="1631950" cy="203200"/>
          </a:xfrm>
          <a:prstGeom prst="roundRect">
            <a:avLst>
              <a:gd name="adj" fmla="val 18750"/>
            </a:avLst>
          </a:prstGeom>
          <a:solidFill>
            <a:srgbClr val="5F7378"/>
          </a:solidFill>
          <a:ln/>
        </p:spPr>
      </p:sp>
      <p:sp>
        <p:nvSpPr>
          <p:cNvPr id="11" name="Text 9"/>
          <p:cNvSpPr/>
          <p:nvPr/>
        </p:nvSpPr>
        <p:spPr>
          <a:xfrm>
            <a:off x="4761230" y="2799079"/>
            <a:ext cx="495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2E"/>
                </a:solidFill>
                <a:latin typeface="Source Serif 4" pitchFamily="18" charset="0"/>
                <a:ea typeface="Source Serif 4" pitchFamily="18" charset="-122"/>
                <a:cs typeface="Source Serif 4" pitchFamily="18" charset="-120"/>
              </a:rPr>
              <a:t>0.78</a:t>
            </a:r>
            <a:endParaRPr lang="en-US" sz="1600" dirty="0"/>
          </a:p>
        </p:txBody>
      </p:sp>
      <p:sp>
        <p:nvSpPr>
          <p:cNvPr id="12" name="Text 10"/>
          <p:cNvSpPr/>
          <p:nvPr/>
        </p:nvSpPr>
        <p:spPr>
          <a:xfrm>
            <a:off x="1021080" y="322072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2E"/>
                </a:solidFill>
                <a:latin typeface="IBM Plex Sans" pitchFamily="34" charset="0"/>
                <a:ea typeface="IBM Plex Sans" pitchFamily="34" charset="-122"/>
                <a:cs typeface="IBM Plex Sans" pitchFamily="34" charset="-120"/>
              </a:rPr>
              <a:t>Rommers 2020</a:t>
            </a:r>
            <a:endParaRPr lang="en-US" sz="1200" dirty="0"/>
          </a:p>
        </p:txBody>
      </p:sp>
      <p:sp>
        <p:nvSpPr>
          <p:cNvPr id="13" name="Shape 11"/>
          <p:cNvSpPr/>
          <p:nvPr/>
        </p:nvSpPr>
        <p:spPr>
          <a:xfrm>
            <a:off x="3027680" y="3225800"/>
            <a:ext cx="1739900" cy="203200"/>
          </a:xfrm>
          <a:prstGeom prst="roundRect">
            <a:avLst>
              <a:gd name="adj" fmla="val 18750"/>
            </a:avLst>
          </a:prstGeom>
          <a:solidFill>
            <a:srgbClr val="5F7378"/>
          </a:solidFill>
          <a:ln/>
        </p:spPr>
      </p:sp>
      <p:sp>
        <p:nvSpPr>
          <p:cNvPr id="14" name="Text 12"/>
          <p:cNvSpPr/>
          <p:nvPr/>
        </p:nvSpPr>
        <p:spPr>
          <a:xfrm>
            <a:off x="4869180" y="3185161"/>
            <a:ext cx="495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2E"/>
                </a:solidFill>
                <a:latin typeface="Source Serif 4" pitchFamily="18" charset="0"/>
                <a:ea typeface="Source Serif 4" pitchFamily="18" charset="-122"/>
                <a:cs typeface="Source Serif 4" pitchFamily="18" charset="-120"/>
              </a:rPr>
              <a:t>0.83</a:t>
            </a:r>
            <a:endParaRPr lang="en-US" sz="1600" dirty="0"/>
          </a:p>
        </p:txBody>
      </p:sp>
      <p:sp>
        <p:nvSpPr>
          <p:cNvPr id="15" name="Text 13"/>
          <p:cNvSpPr/>
          <p:nvPr/>
        </p:nvSpPr>
        <p:spPr>
          <a:xfrm>
            <a:off x="1021080" y="36068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6C"/>
                </a:solidFill>
                <a:latin typeface="IBM Plex Sans" pitchFamily="34" charset="0"/>
                <a:ea typeface="IBM Plex Sans" pitchFamily="34" charset="-122"/>
                <a:cs typeface="IBM Plex Sans" pitchFamily="34" charset="-120"/>
              </a:rPr>
              <a:t>This reproduction</a:t>
            </a:r>
            <a:endParaRPr lang="en-US" sz="1200" dirty="0"/>
          </a:p>
        </p:txBody>
      </p:sp>
      <p:sp>
        <p:nvSpPr>
          <p:cNvPr id="16" name="Shape 14"/>
          <p:cNvSpPr/>
          <p:nvPr/>
        </p:nvSpPr>
        <p:spPr>
          <a:xfrm>
            <a:off x="3027680" y="3611879"/>
            <a:ext cx="1803400" cy="203200"/>
          </a:xfrm>
          <a:prstGeom prst="roundRect">
            <a:avLst>
              <a:gd name="adj" fmla="val 18750"/>
            </a:avLst>
          </a:prstGeom>
          <a:solidFill>
            <a:srgbClr val="1F6B6C"/>
          </a:solidFill>
          <a:ln/>
        </p:spPr>
      </p:sp>
      <p:sp>
        <p:nvSpPr>
          <p:cNvPr id="17" name="Text 15"/>
          <p:cNvSpPr/>
          <p:nvPr/>
        </p:nvSpPr>
        <p:spPr>
          <a:xfrm>
            <a:off x="4932680" y="3571239"/>
            <a:ext cx="495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6C"/>
                </a:solidFill>
                <a:latin typeface="Source Serif 4" pitchFamily="18" charset="0"/>
                <a:ea typeface="Source Serif 4" pitchFamily="18" charset="-122"/>
                <a:cs typeface="Source Serif 4" pitchFamily="18" charset="-120"/>
              </a:rPr>
              <a:t>0.86</a:t>
            </a:r>
            <a:endParaRPr lang="en-US" sz="1600" dirty="0"/>
          </a:p>
        </p:txBody>
      </p:sp>
      <p:sp>
        <p:nvSpPr>
          <p:cNvPr id="18" name="Text 16"/>
          <p:cNvSpPr/>
          <p:nvPr/>
        </p:nvSpPr>
        <p:spPr>
          <a:xfrm>
            <a:off x="1021080" y="39928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A"/>
                </a:solidFill>
                <a:latin typeface="IBM Plex Sans" pitchFamily="34" charset="0"/>
                <a:ea typeface="IBM Plex Sans" pitchFamily="34" charset="-122"/>
                <a:cs typeface="IBM Plex Sans" pitchFamily="34" charset="-120"/>
              </a:rPr>
              <a:t>Ma, Liu and Pei 2025</a:t>
            </a:r>
            <a:endParaRPr lang="en-US" sz="1200" dirty="0"/>
          </a:p>
        </p:txBody>
      </p:sp>
      <p:sp>
        <p:nvSpPr>
          <p:cNvPr id="19" name="Shape 17"/>
          <p:cNvSpPr/>
          <p:nvPr/>
        </p:nvSpPr>
        <p:spPr>
          <a:xfrm>
            <a:off x="3027680" y="3997961"/>
            <a:ext cx="2076450" cy="203200"/>
          </a:xfrm>
          <a:prstGeom prst="roundRect">
            <a:avLst>
              <a:gd name="adj" fmla="val 18750"/>
            </a:avLst>
          </a:prstGeom>
          <a:solidFill>
            <a:srgbClr val="B8501A"/>
          </a:solidFill>
          <a:ln/>
        </p:spPr>
      </p:sp>
      <p:sp>
        <p:nvSpPr>
          <p:cNvPr id="20" name="Text 18"/>
          <p:cNvSpPr/>
          <p:nvPr/>
        </p:nvSpPr>
        <p:spPr>
          <a:xfrm>
            <a:off x="5205730" y="3957321"/>
            <a:ext cx="495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501A"/>
                </a:solidFill>
                <a:latin typeface="Source Serif 4" pitchFamily="18" charset="0"/>
                <a:ea typeface="Source Serif 4" pitchFamily="18" charset="-122"/>
                <a:cs typeface="Source Serif 4" pitchFamily="18" charset="-120"/>
              </a:rPr>
              <a:t>0.99</a:t>
            </a:r>
            <a:endParaRPr lang="en-US" sz="1600" dirty="0"/>
          </a:p>
        </p:txBody>
      </p:sp>
      <p:sp>
        <p:nvSpPr>
          <p:cNvPr id="21" name="Shape 19"/>
          <p:cNvSpPr/>
          <p:nvPr/>
        </p:nvSpPr>
        <p:spPr>
          <a:xfrm>
            <a:off x="6200775" y="1862454"/>
            <a:ext cx="5175250" cy="2584450"/>
          </a:xfrm>
          <a:prstGeom prst="roundRect">
            <a:avLst>
              <a:gd name="adj" fmla="val 3808"/>
            </a:avLst>
          </a:prstGeom>
          <a:solidFill>
            <a:srgbClr val="FFFDF8"/>
          </a:solidFill>
          <a:ln w="6350">
            <a:solidFill>
              <a:srgbClr val="DDD7C8"/>
            </a:solidFill>
            <a:prstDash val="solid"/>
          </a:ln>
        </p:spPr>
      </p:sp>
      <p:sp>
        <p:nvSpPr>
          <p:cNvPr id="22" name="Text 20"/>
          <p:cNvSpPr/>
          <p:nvPr/>
        </p:nvSpPr>
        <p:spPr>
          <a:xfrm>
            <a:off x="6405880" y="2067561"/>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62B"/>
                </a:solidFill>
                <a:latin typeface="IBM Plex Sans" pitchFamily="34" charset="0"/>
                <a:ea typeface="IBM Plex Sans" pitchFamily="34" charset="-122"/>
                <a:cs typeface="IBM Plex Sans" pitchFamily="34" charset="-120"/>
              </a:rPr>
              <a:t>Limitations to remember</a:t>
            </a:r>
            <a:endParaRPr lang="en-US" sz="1600" dirty="0"/>
          </a:p>
        </p:txBody>
      </p:sp>
      <p:sp>
        <p:nvSpPr>
          <p:cNvPr id="23" name="Shape 21"/>
          <p:cNvSpPr/>
          <p:nvPr/>
        </p:nvSpPr>
        <p:spPr>
          <a:xfrm>
            <a:off x="6418580" y="2413000"/>
            <a:ext cx="0" cy="213360"/>
          </a:xfrm>
          <a:prstGeom prst="line">
            <a:avLst/>
          </a:prstGeom>
          <a:noFill/>
          <a:ln w="25400">
            <a:solidFill>
              <a:srgbClr val="B8501A"/>
            </a:solidFill>
            <a:prstDash val="solid"/>
          </a:ln>
        </p:spPr>
      </p:sp>
      <p:sp>
        <p:nvSpPr>
          <p:cNvPr id="24" name="Text 22"/>
          <p:cNvSpPr/>
          <p:nvPr/>
        </p:nvSpPr>
        <p:spPr>
          <a:xfrm>
            <a:off x="6532880" y="2413000"/>
            <a:ext cx="47771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Balanced 50:50 classes vs 15–30% real prevalence</a:t>
            </a:r>
            <a:endParaRPr lang="en-US" sz="1200" dirty="0"/>
          </a:p>
        </p:txBody>
      </p:sp>
      <p:sp>
        <p:nvSpPr>
          <p:cNvPr id="25" name="Shape 23"/>
          <p:cNvSpPr/>
          <p:nvPr/>
        </p:nvSpPr>
        <p:spPr>
          <a:xfrm>
            <a:off x="6418580" y="2727961"/>
            <a:ext cx="0" cy="213360"/>
          </a:xfrm>
          <a:prstGeom prst="line">
            <a:avLst/>
          </a:prstGeom>
          <a:noFill/>
          <a:ln w="25400">
            <a:solidFill>
              <a:srgbClr val="B8501A"/>
            </a:solidFill>
            <a:prstDash val="solid"/>
          </a:ln>
        </p:spPr>
      </p:sp>
      <p:sp>
        <p:nvSpPr>
          <p:cNvPr id="26" name="Text 24"/>
          <p:cNvSpPr/>
          <p:nvPr/>
        </p:nvSpPr>
        <p:spPr>
          <a:xfrm>
            <a:off x="6532880" y="2727961"/>
            <a:ext cx="47771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Single country, no external validation</a:t>
            </a:r>
            <a:endParaRPr lang="en-US" sz="1200" dirty="0"/>
          </a:p>
        </p:txBody>
      </p:sp>
      <p:sp>
        <p:nvSpPr>
          <p:cNvPr id="27" name="Shape 25"/>
          <p:cNvSpPr/>
          <p:nvPr/>
        </p:nvSpPr>
        <p:spPr>
          <a:xfrm>
            <a:off x="6418580" y="3042921"/>
            <a:ext cx="0" cy="213360"/>
          </a:xfrm>
          <a:prstGeom prst="line">
            <a:avLst/>
          </a:prstGeom>
          <a:noFill/>
          <a:ln w="25400">
            <a:solidFill>
              <a:srgbClr val="B8501A"/>
            </a:solidFill>
            <a:prstDash val="solid"/>
          </a:ln>
        </p:spPr>
      </p:sp>
      <p:sp>
        <p:nvSpPr>
          <p:cNvPr id="28" name="Text 26"/>
          <p:cNvSpPr/>
          <p:nvPr/>
        </p:nvSpPr>
        <p:spPr>
          <a:xfrm>
            <a:off x="6532880" y="3042921"/>
            <a:ext cx="47771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Self-reported stress and one static baseline snapshot</a:t>
            </a:r>
            <a:endParaRPr lang="en-US" sz="1200" dirty="0"/>
          </a:p>
        </p:txBody>
      </p:sp>
      <p:sp>
        <p:nvSpPr>
          <p:cNvPr id="29" name="Shape 27"/>
          <p:cNvSpPr/>
          <p:nvPr/>
        </p:nvSpPr>
        <p:spPr>
          <a:xfrm>
            <a:off x="6418580" y="3357879"/>
            <a:ext cx="0" cy="426720"/>
          </a:xfrm>
          <a:prstGeom prst="line">
            <a:avLst/>
          </a:prstGeom>
          <a:noFill/>
          <a:ln w="25400">
            <a:solidFill>
              <a:srgbClr val="B8501A"/>
            </a:solidFill>
            <a:prstDash val="solid"/>
          </a:ln>
        </p:spPr>
      </p:sp>
      <p:sp>
        <p:nvSpPr>
          <p:cNvPr id="30" name="Text 28"/>
          <p:cNvSpPr/>
          <p:nvPr/>
        </p:nvSpPr>
        <p:spPr>
          <a:xfrm>
            <a:off x="6532880" y="3357879"/>
            <a:ext cx="47771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2E"/>
                </a:solidFill>
                <a:latin typeface="IBM Plex Sans" pitchFamily="34" charset="0"/>
                <a:ea typeface="IBM Plex Sans" pitchFamily="34" charset="-122"/>
                <a:cs typeface="IBM Plex Sans" pitchFamily="34" charset="-120"/>
              </a:rPr>
              <a:t>A 'high risk' label can become a self-fulfilling prophecy or stigma: frame outputs as support and restrict access</a:t>
            </a:r>
            <a:endParaRPr lang="en-US" sz="1200" dirty="0"/>
          </a:p>
        </p:txBody>
      </p:sp>
      <p:sp>
        <p:nvSpPr>
          <p:cNvPr id="31" name="Text 29"/>
          <p:cNvSpPr/>
          <p:nvPr/>
        </p:nvSpPr>
        <p:spPr>
          <a:xfrm>
            <a:off x="812800" y="4704079"/>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2E"/>
                </a:solidFill>
                <a:latin typeface="IBM Plex Sans" pitchFamily="34" charset="0"/>
                <a:ea typeface="IBM Plex Sans" pitchFamily="34" charset="-122"/>
                <a:cs typeface="IBM Plex Sans" pitchFamily="34" charset="-120"/>
              </a:rPr>
              <a:t>Prior cohorts sit at 0.76 to 0.83. The paper's 0.99 is most likely inflated by artificial class balance and low noise: treat it as an upper bound.</a:t>
            </a:r>
            <a:endParaRPr lang="en-US" sz="1600" dirty="0"/>
          </a:p>
        </p:txBody>
      </p:sp>
      <p:sp>
        <p:nvSpPr>
          <p:cNvPr id="32" name="Text 30"/>
          <p:cNvSpPr/>
          <p:nvPr/>
        </p:nvSpPr>
        <p:spPr>
          <a:xfrm>
            <a:off x="812800" y="6238239"/>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Best-model ROC-AUC in each study · bars start at zero</a:t>
            </a:r>
            <a:endParaRPr lang="en-US" sz="1200" dirty="0"/>
          </a:p>
        </p:txBody>
      </p:sp>
      <p:sp>
        <p:nvSpPr>
          <p:cNvPr id="33" name="Text 31"/>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A"/>
                </a:solidFill>
                <a:latin typeface="IBM Plex Sans" pitchFamily="34" charset="0"/>
                <a:ea typeface="IBM Plex Sans" pitchFamily="34" charset="-122"/>
                <a:cs typeface="IBM Plex Sans" pitchFamily="34" charset="-120"/>
              </a:rPr>
              <a:t>7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6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5"/>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ource Serif 4" pitchFamily="18" charset="0"/>
                <a:ea typeface="Source Serif 4" pitchFamily="18" charset="-122"/>
                <a:cs typeface="Source Serif 4" pitchFamily="18" charset="-120"/>
              </a:rPr>
              <a:t>Conclusion and future scope</a:t>
            </a:r>
            <a:endParaRPr lang="en-US" sz="3600" dirty="0"/>
          </a:p>
        </p:txBody>
      </p:sp>
      <p:sp>
        <p:nvSpPr>
          <p:cNvPr id="4" name="Shape 2"/>
          <p:cNvSpPr/>
          <p:nvPr/>
        </p:nvSpPr>
        <p:spPr>
          <a:xfrm>
            <a:off x="812800" y="2623184"/>
            <a:ext cx="5967942" cy="0"/>
          </a:xfrm>
          <a:prstGeom prst="line">
            <a:avLst/>
          </a:prstGeom>
          <a:noFill/>
          <a:ln w="6350">
            <a:solidFill>
              <a:srgbClr val="2E4A50"/>
            </a:solidFill>
            <a:prstDash val="solid"/>
          </a:ln>
        </p:spPr>
      </p:sp>
      <p:sp>
        <p:nvSpPr>
          <p:cNvPr id="5" name="Text 3"/>
          <p:cNvSpPr/>
          <p:nvPr/>
        </p:nvSpPr>
        <p:spPr>
          <a:xfrm>
            <a:off x="812800" y="1986279"/>
            <a:ext cx="5080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8A45"/>
                </a:solidFill>
                <a:latin typeface="Source Serif 4" pitchFamily="18" charset="0"/>
                <a:ea typeface="Source Serif 4" pitchFamily="18" charset="-122"/>
                <a:cs typeface="Source Serif 4" pitchFamily="18" charset="-120"/>
              </a:rPr>
              <a:t>1</a:t>
            </a:r>
            <a:endParaRPr lang="en-US" sz="3600" dirty="0"/>
          </a:p>
        </p:txBody>
      </p:sp>
      <p:sp>
        <p:nvSpPr>
          <p:cNvPr id="6" name="Text 4"/>
          <p:cNvSpPr/>
          <p:nvPr/>
        </p:nvSpPr>
        <p:spPr>
          <a:xfrm>
            <a:off x="1422400" y="1986279"/>
            <a:ext cx="53632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Source Serif 4" pitchFamily="18" charset="0"/>
                <a:ea typeface="Source Serif 4" pitchFamily="18" charset="-122"/>
                <a:cs typeface="Source Serif 4" pitchFamily="18" charset="-120"/>
              </a:rPr>
              <a:t>Stress, sleep and balance drive injury risk</a:t>
            </a:r>
            <a:endParaRPr lang="en-US" sz="1600" dirty="0"/>
          </a:p>
        </p:txBody>
      </p:sp>
      <p:sp>
        <p:nvSpPr>
          <p:cNvPr id="7" name="Text 5"/>
          <p:cNvSpPr/>
          <p:nvPr/>
        </p:nvSpPr>
        <p:spPr>
          <a:xfrm>
            <a:off x="1422400" y="2280921"/>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Top-3 SHAP order reproduced exactly, ahead of strength and speed.</a:t>
            </a:r>
            <a:endParaRPr lang="en-US" sz="1200" dirty="0"/>
          </a:p>
        </p:txBody>
      </p:sp>
      <p:sp>
        <p:nvSpPr>
          <p:cNvPr id="8" name="Shape 6"/>
          <p:cNvSpPr/>
          <p:nvPr/>
        </p:nvSpPr>
        <p:spPr>
          <a:xfrm>
            <a:off x="812800" y="3390266"/>
            <a:ext cx="5967942" cy="0"/>
          </a:xfrm>
          <a:prstGeom prst="line">
            <a:avLst/>
          </a:prstGeom>
          <a:noFill/>
          <a:ln w="6350">
            <a:solidFill>
              <a:srgbClr val="2E4A50"/>
            </a:solidFill>
            <a:prstDash val="solid"/>
          </a:ln>
        </p:spPr>
      </p:sp>
      <p:sp>
        <p:nvSpPr>
          <p:cNvPr id="9" name="Text 7"/>
          <p:cNvSpPr/>
          <p:nvPr/>
        </p:nvSpPr>
        <p:spPr>
          <a:xfrm>
            <a:off x="812800" y="2753361"/>
            <a:ext cx="5080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8A45"/>
                </a:solidFill>
                <a:latin typeface="Source Serif 4" pitchFamily="18" charset="0"/>
                <a:ea typeface="Source Serif 4" pitchFamily="18" charset="-122"/>
                <a:cs typeface="Source Serif 4" pitchFamily="18" charset="-120"/>
              </a:rPr>
              <a:t>2</a:t>
            </a:r>
            <a:endParaRPr lang="en-US" sz="3600" dirty="0"/>
          </a:p>
        </p:txBody>
      </p:sp>
      <p:sp>
        <p:nvSpPr>
          <p:cNvPr id="10" name="Text 8"/>
          <p:cNvSpPr/>
          <p:nvPr/>
        </p:nvSpPr>
        <p:spPr>
          <a:xfrm>
            <a:off x="1422400" y="2753361"/>
            <a:ext cx="53632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Source Serif 4" pitchFamily="18" charset="0"/>
                <a:ea typeface="Source Serif 4" pitchFamily="18" charset="-122"/>
                <a:cs typeface="Source Serif 4" pitchFamily="18" charset="-120"/>
              </a:rPr>
              <a:t>The RBF-kernel SVM is the strongest model</a:t>
            </a:r>
            <a:endParaRPr lang="en-US" sz="1600" dirty="0"/>
          </a:p>
        </p:txBody>
      </p:sp>
      <p:sp>
        <p:nvSpPr>
          <p:cNvPr id="11" name="Text 9"/>
          <p:cNvSpPr/>
          <p:nvPr/>
        </p:nvSpPr>
        <p:spPr>
          <a:xfrm>
            <a:off x="1422400" y="3048000"/>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Accuracy 0.800 and F1 0.805 in the reproduction.</a:t>
            </a:r>
            <a:endParaRPr lang="en-US" sz="1200" dirty="0"/>
          </a:p>
        </p:txBody>
      </p:sp>
      <p:sp>
        <p:nvSpPr>
          <p:cNvPr id="12" name="Text 10"/>
          <p:cNvSpPr/>
          <p:nvPr/>
        </p:nvSpPr>
        <p:spPr>
          <a:xfrm>
            <a:off x="812800" y="3520439"/>
            <a:ext cx="5080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08A45"/>
                </a:solidFill>
                <a:latin typeface="Source Serif 4" pitchFamily="18" charset="0"/>
                <a:ea typeface="Source Serif 4" pitchFamily="18" charset="-122"/>
                <a:cs typeface="Source Serif 4" pitchFamily="18" charset="-120"/>
              </a:rPr>
              <a:t>3</a:t>
            </a:r>
            <a:endParaRPr lang="en-US" sz="3600" dirty="0"/>
          </a:p>
        </p:txBody>
      </p:sp>
      <p:sp>
        <p:nvSpPr>
          <p:cNvPr id="13" name="Text 11"/>
          <p:cNvSpPr/>
          <p:nvPr/>
        </p:nvSpPr>
        <p:spPr>
          <a:xfrm>
            <a:off x="1422400" y="3520439"/>
            <a:ext cx="53632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Source Serif 4" pitchFamily="18" charset="0"/>
                <a:ea typeface="Source Serif 4" pitchFamily="18" charset="-122"/>
                <a:cs typeface="Source Serif 4" pitchFamily="18" charset="-120"/>
              </a:rPr>
              <a:t>Treat 0.99 AUC as an upper bound</a:t>
            </a:r>
            <a:endParaRPr lang="en-US" sz="1600" dirty="0"/>
          </a:p>
        </p:txBody>
      </p:sp>
      <p:sp>
        <p:nvSpPr>
          <p:cNvPr id="14" name="Text 12"/>
          <p:cNvSpPr/>
          <p:nvPr/>
        </p:nvSpPr>
        <p:spPr>
          <a:xfrm>
            <a:off x="1422400" y="3815079"/>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9C6"/>
                </a:solidFill>
                <a:latin typeface="IBM Plex Sans" pitchFamily="34" charset="0"/>
                <a:ea typeface="IBM Plex Sans" pitchFamily="34" charset="-122"/>
                <a:cs typeface="IBM Plex Sans" pitchFamily="34" charset="-120"/>
              </a:rPr>
              <a:t>The reproduction reached 0.864; deployment needs external validation.</a:t>
            </a:r>
            <a:endParaRPr lang="en-US" sz="1200" dirty="0"/>
          </a:p>
        </p:txBody>
      </p:sp>
      <p:sp>
        <p:nvSpPr>
          <p:cNvPr id="15" name="Shape 13"/>
          <p:cNvSpPr/>
          <p:nvPr/>
        </p:nvSpPr>
        <p:spPr>
          <a:xfrm>
            <a:off x="6987117" y="1862454"/>
            <a:ext cx="4388908" cy="2553970"/>
          </a:xfrm>
          <a:prstGeom prst="roundRect">
            <a:avLst>
              <a:gd name="adj" fmla="val 3854"/>
            </a:avLst>
          </a:prstGeom>
          <a:solidFill>
            <a:srgbClr val="17353B"/>
          </a:solidFill>
          <a:ln w="6350">
            <a:solidFill>
              <a:srgbClr val="2E4A50"/>
            </a:solidFill>
            <a:prstDash val="solid"/>
          </a:ln>
        </p:spPr>
      </p:sp>
      <p:sp>
        <p:nvSpPr>
          <p:cNvPr id="16" name="Text 14"/>
          <p:cNvSpPr/>
          <p:nvPr/>
        </p:nvSpPr>
        <p:spPr>
          <a:xfrm>
            <a:off x="7192221" y="2067561"/>
            <a:ext cx="409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A45"/>
                </a:solidFill>
                <a:latin typeface="IBM Plex Sans" pitchFamily="34" charset="0"/>
                <a:ea typeface="IBM Plex Sans" pitchFamily="34" charset="-122"/>
                <a:cs typeface="IBM Plex Sans" pitchFamily="34" charset="-120"/>
              </a:rPr>
              <a:t>Future scope</a:t>
            </a:r>
            <a:endParaRPr lang="en-US" sz="1600" dirty="0"/>
          </a:p>
        </p:txBody>
      </p:sp>
      <p:sp>
        <p:nvSpPr>
          <p:cNvPr id="17" name="Text 15"/>
          <p:cNvSpPr/>
          <p:nvPr/>
        </p:nvSpPr>
        <p:spPr>
          <a:xfrm>
            <a:off x="7192221" y="2413000"/>
            <a:ext cx="409805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Fuzzy logic and ANFIS:</a:t>
            </a:r>
            <a:r>
              <a:rPr lang="en-US" sz="1200" dirty="0">
                <a:solidFill>
                  <a:srgbClr val="F3EFE6"/>
                </a:solidFill>
                <a:latin typeface="IBM Plex Sans" pitchFamily="34" charset="0"/>
                <a:ea typeface="IBM Plex Sans" pitchFamily="34" charset="-122"/>
                <a:cs typeface="IBM Plex Sans" pitchFamily="34" charset="-120"/>
              </a:rPr>
              <a:t> graded Low / Medium / High risk, with rules learned from data</a:t>
            </a:r>
            <a:endParaRPr lang="en-US" sz="1200" dirty="0"/>
          </a:p>
        </p:txBody>
      </p:sp>
      <p:sp>
        <p:nvSpPr>
          <p:cNvPr id="18" name="Text 16"/>
          <p:cNvSpPr/>
          <p:nvPr/>
        </p:nvSpPr>
        <p:spPr>
          <a:xfrm>
            <a:off x="7192221" y="2941321"/>
            <a:ext cx="409805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Neural networks:</a:t>
            </a:r>
            <a:r>
              <a:rPr lang="en-US" sz="1200" dirty="0">
                <a:solidFill>
                  <a:srgbClr val="F3EFE6"/>
                </a:solidFill>
                <a:latin typeface="IBM Plex Sans" pitchFamily="34" charset="0"/>
                <a:ea typeface="IBM Plex Sans" pitchFamily="34" charset="-122"/>
                <a:cs typeface="IBM Plex Sans" pitchFamily="34" charset="-120"/>
              </a:rPr>
              <a:t> stress-by-load interactions</a:t>
            </a:r>
            <a:endParaRPr lang="en-US" sz="1200" dirty="0"/>
          </a:p>
        </p:txBody>
      </p:sp>
      <p:sp>
        <p:nvSpPr>
          <p:cNvPr id="19" name="Text 17"/>
          <p:cNvSpPr/>
          <p:nvPr/>
        </p:nvSpPr>
        <p:spPr>
          <a:xfrm>
            <a:off x="7192221" y="3256279"/>
            <a:ext cx="409805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Genetic algorithm:</a:t>
            </a:r>
            <a:r>
              <a:rPr lang="en-US" sz="1200" dirty="0">
                <a:solidFill>
                  <a:srgbClr val="F3EFE6"/>
                </a:solidFill>
                <a:latin typeface="IBM Plex Sans" pitchFamily="34" charset="0"/>
                <a:ea typeface="IBM Plex Sans" pitchFamily="34" charset="-122"/>
                <a:cs typeface="IBM Plex Sans" pitchFamily="34" charset="-120"/>
              </a:rPr>
              <a:t> evolve the feature subset, SVM C and gamma</a:t>
            </a:r>
            <a:endParaRPr lang="en-US" sz="1200" dirty="0"/>
          </a:p>
        </p:txBody>
      </p:sp>
      <p:sp>
        <p:nvSpPr>
          <p:cNvPr id="20" name="Text 18"/>
          <p:cNvSpPr/>
          <p:nvPr/>
        </p:nvSpPr>
        <p:spPr>
          <a:xfrm>
            <a:off x="7192221" y="3784600"/>
            <a:ext cx="409805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Wearables and mobile app:</a:t>
            </a:r>
            <a:r>
              <a:rPr lang="en-US" sz="1200" dirty="0">
                <a:solidFill>
                  <a:srgbClr val="F3EFE6"/>
                </a:solidFill>
                <a:latin typeface="IBM Plex Sans" pitchFamily="34" charset="0"/>
                <a:ea typeface="IBM Plex Sans" pitchFamily="34" charset="-122"/>
                <a:cs typeface="IBM Plex Sans" pitchFamily="34" charset="-120"/>
              </a:rPr>
              <a:t> continuous monitoring, traffic-light advice</a:t>
            </a:r>
            <a:endParaRPr lang="en-US" sz="1200" dirty="0"/>
          </a:p>
        </p:txBody>
      </p:sp>
      <p:sp>
        <p:nvSpPr>
          <p:cNvPr id="21" name="Text 19"/>
          <p:cNvSpPr/>
          <p:nvPr/>
        </p:nvSpPr>
        <p:spPr>
          <a:xfrm>
            <a:off x="812800" y="6238242"/>
            <a:ext cx="8829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A5"/>
                </a:solidFill>
                <a:latin typeface="IBM Plex Sans" pitchFamily="34" charset="0"/>
                <a:ea typeface="IBM Plex Sans" pitchFamily="34" charset="-122"/>
                <a:cs typeface="IBM Plex Sans" pitchFamily="34" charset="-120"/>
              </a:rPr>
              <a:t>Thank you · Gudidevuni Vishal · Roll No. 160124748107</a:t>
            </a:r>
            <a:endParaRPr lang="en-US" sz="1200" dirty="0"/>
          </a:p>
        </p:txBody>
      </p:sp>
      <p:sp>
        <p:nvSpPr>
          <p:cNvPr id="22" name="Text 20"/>
          <p:cNvSpPr/>
          <p:nvPr/>
        </p:nvSpPr>
        <p:spPr>
          <a:xfrm>
            <a:off x="9804400" y="62382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8A5"/>
                </a:solidFill>
                <a:latin typeface="IBM Plex Sans" pitchFamily="34" charset="0"/>
                <a:ea typeface="IBM Plex Sans" pitchFamily="34" charset="-122"/>
                <a:cs typeface="IBM Plex Sans" pitchFamily="34" charset="-120"/>
              </a:rPr>
              <a:t>8 / 8</a:t>
            </a:r>
            <a:endParaRPr lang="en-US" sz="1200" dirty="0"/>
          </a:p>
        </p:txBody>
      </p:sp>
    </p:spTree>
  </p:cSld>
  <p:clrMapOvr>
    <a:masterClrMapping/>
  </p:clrMapOvr>
</p:sld>
</file>

<file path=ppt/theme/theme1.xml><?xml version="1.0" encoding="utf-8"?>
<a:theme xmlns:a="http://schemas.openxmlformats.org/drawingml/2006/main" name="Injury Risk Case Study">
  <a:themeElements>
    <a:clrScheme name="Injury Risk Case Study">
      <a:dk1>
        <a:srgbClr val="10262B"/>
      </a:dk1>
      <a:lt1>
        <a:srgbClr val="F6F3EA"/>
      </a:lt1>
      <a:dk2>
        <a:srgbClr val="4A595B"/>
      </a:dk2>
      <a:lt2>
        <a:srgbClr val="DFDFD7"/>
      </a:lt2>
      <a:accent1>
        <a:srgbClr val="B8501A"/>
      </a:accent1>
      <a:accent2>
        <a:srgbClr val="F08A45"/>
      </a:accent2>
      <a:accent3>
        <a:srgbClr val="1F6B6C"/>
      </a:accent3>
      <a:accent4>
        <a:srgbClr val="55646A"/>
      </a:accent4>
      <a:accent5>
        <a:srgbClr val="B9C9C6"/>
      </a:accent5>
      <a:accent6>
        <a:srgbClr val="8FA8A5"/>
      </a:accent6>
      <a:hlink>
        <a:srgbClr val="0563C1"/>
      </a:hlink>
      <a:folHlink>
        <a:srgbClr val="954F72"/>
      </a:folHlink>
    </a:clrScheme>
    <a:fontScheme name="Injury Risk Case Study">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Injury Risk Case Study</dc:title>
  <dc:subject/>
  <dc:creator/>
  <cp:lastModifiedBy/>
  <cp:revision>1</cp:revision>
  <dcterms:created xsi:type="dcterms:W3CDTF">2026-10-27T12:48:15Z</dcterms:created>
  <dcterms:modified xsi:type="dcterms:W3CDTF">2026-10-27T12:48:15Z</dcterms:modified>
</cp:coreProperties>
</file>